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1"/>
  </p:notesMasterIdLst>
  <p:sldIdLst>
    <p:sldId id="256" r:id="rId2"/>
    <p:sldId id="257" r:id="rId3"/>
    <p:sldId id="261" r:id="rId4"/>
    <p:sldId id="288" r:id="rId5"/>
    <p:sldId id="289" r:id="rId6"/>
    <p:sldId id="290" r:id="rId7"/>
    <p:sldId id="291" r:id="rId8"/>
    <p:sldId id="292" r:id="rId9"/>
    <p:sldId id="293" r:id="rId10"/>
  </p:sldIdLst>
  <p:sldSz cx="9144000" cy="6858000" type="screen4x3"/>
  <p:notesSz cx="6858000" cy="9144000"/>
  <p:embeddedFontLst>
    <p:embeddedFont>
      <p:font typeface="Arvo" panose="020B0604020202020204" charset="0"/>
      <p:regular r:id="rId12"/>
      <p:bold r:id="rId13"/>
      <p:italic r:id="rId14"/>
      <p:boldItalic r:id="rId15"/>
    </p:embeddedFont>
    <p:embeddedFont>
      <p:font typeface="Roboto Condensed" panose="020B0604020202020204" charset="0"/>
      <p:regular r:id="rId16"/>
      <p:bold r:id="rId17"/>
      <p:italic r:id="rId18"/>
      <p:boldItalic r:id="rId19"/>
    </p:embeddedFont>
    <p:embeddedFont>
      <p:font typeface="Roboto Condensed Ligh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CFE"/>
    <a:srgbClr val="C6E6FC"/>
    <a:srgbClr val="C5D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09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nston.paul87@gmail.com" userId="f1da746e8ad794a0" providerId="LiveId" clId="{64C8C706-E9A8-4279-9F99-1447673F47C8}"/>
    <pc:docChg chg="custSel modSld">
      <pc:chgData name="winston.paul87@gmail.com" userId="f1da746e8ad794a0" providerId="LiveId" clId="{64C8C706-E9A8-4279-9F99-1447673F47C8}" dt="2024-07-01T08:59:12.536" v="76" actId="207"/>
      <pc:docMkLst>
        <pc:docMk/>
      </pc:docMkLst>
      <pc:sldChg chg="modSp mod">
        <pc:chgData name="winston.paul87@gmail.com" userId="f1da746e8ad794a0" providerId="LiveId" clId="{64C8C706-E9A8-4279-9F99-1447673F47C8}" dt="2024-06-18T04:52:40.176" v="0" actId="20577"/>
        <pc:sldMkLst>
          <pc:docMk/>
          <pc:sldMk cId="0" sldId="257"/>
        </pc:sldMkLst>
        <pc:spChg chg="mod">
          <ac:chgData name="winston.paul87@gmail.com" userId="f1da746e8ad794a0" providerId="LiveId" clId="{64C8C706-E9A8-4279-9F99-1447673F47C8}" dt="2024-06-18T04:52:40.176" v="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 modNotesTx">
        <pc:chgData name="winston.paul87@gmail.com" userId="f1da746e8ad794a0" providerId="LiveId" clId="{64C8C706-E9A8-4279-9F99-1447673F47C8}" dt="2024-07-01T08:59:12.536" v="76" actId="207"/>
        <pc:sldMkLst>
          <pc:docMk/>
          <pc:sldMk cId="752712427" sldId="291"/>
        </pc:sldMkLst>
        <pc:spChg chg="mod">
          <ac:chgData name="winston.paul87@gmail.com" userId="f1da746e8ad794a0" providerId="LiveId" clId="{64C8C706-E9A8-4279-9F99-1447673F47C8}" dt="2024-07-01T08:58:22.477" v="70" actId="20577"/>
          <ac:spMkLst>
            <pc:docMk/>
            <pc:sldMk cId="752712427" sldId="291"/>
            <ac:spMk id="2" creationId="{00000000-0000-0000-0000-000000000000}"/>
          </ac:spMkLst>
        </pc:spChg>
        <pc:spChg chg="mod">
          <ac:chgData name="winston.paul87@gmail.com" userId="f1da746e8ad794a0" providerId="LiveId" clId="{64C8C706-E9A8-4279-9F99-1447673F47C8}" dt="2024-07-01T08:57:13.557" v="47" actId="20577"/>
          <ac:spMkLst>
            <pc:docMk/>
            <pc:sldMk cId="752712427" sldId="291"/>
            <ac:spMk id="3" creationId="{00000000-0000-0000-0000-000000000000}"/>
          </ac:spMkLst>
        </pc:spChg>
        <pc:spChg chg="mod">
          <ac:chgData name="winston.paul87@gmail.com" userId="f1da746e8ad794a0" providerId="LiveId" clId="{64C8C706-E9A8-4279-9F99-1447673F47C8}" dt="2024-07-01T08:57:39.169" v="60" actId="1037"/>
          <ac:spMkLst>
            <pc:docMk/>
            <pc:sldMk cId="752712427" sldId="291"/>
            <ac:spMk id="5" creationId="{00000000-0000-0000-0000-000000000000}"/>
          </ac:spMkLst>
        </pc:spChg>
      </pc:sldChg>
      <pc:sldChg chg="modSp mod">
        <pc:chgData name="winston.paul87@gmail.com" userId="f1da746e8ad794a0" providerId="LiveId" clId="{64C8C706-E9A8-4279-9F99-1447673F47C8}" dt="2024-06-18T08:37:13.620" v="31" actId="113"/>
        <pc:sldMkLst>
          <pc:docMk/>
          <pc:sldMk cId="2237077614" sldId="293"/>
        </pc:sldMkLst>
        <pc:spChg chg="mod">
          <ac:chgData name="winston.paul87@gmail.com" userId="f1da746e8ad794a0" providerId="LiveId" clId="{64C8C706-E9A8-4279-9F99-1447673F47C8}" dt="2024-06-18T08:37:13.620" v="31" actId="113"/>
          <ac:spMkLst>
            <pc:docMk/>
            <pc:sldMk cId="2237077614" sldId="29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95297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in/database/what-is-database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in/database/what-is-database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134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https://databasetown.com/what-is-dbms-components-features-advantages/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6260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399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 sz="1100" dirty="0"/>
              <a:t>https://www.oracle.com/in/database/what-is-database/</a:t>
            </a:r>
          </a:p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 sz="1100" dirty="0"/>
              <a:t>https://databasetown.com/what-is-dbms-components-features-advantages/</a:t>
            </a:r>
          </a:p>
        </p:txBody>
      </p:sp>
    </p:spTree>
    <p:extLst>
      <p:ext uri="{BB962C8B-B14F-4D97-AF65-F5344CB8AC3E}">
        <p14:creationId xmlns:p14="http://schemas.microsoft.com/office/powerpoint/2010/main" val="1852630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IN" dirty="0"/>
              <a:t>https://databasetown.com/data-models-in-dbms-with-examples/</a:t>
            </a:r>
          </a:p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https://www.oracle.com/in/database/what-is-database/</a:t>
            </a: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>
              <a:buNone/>
            </a:pPr>
            <a:endParaRPr lang="en-IN" dirty="0"/>
          </a:p>
          <a:p>
            <a:pPr marL="457200" indent="-317500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The ER model for conceptual modeling and the relational model for physical implementation within a DBMS.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540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IN" sz="1100" b="0" i="0" u="sng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  <a:hlinkClick r:id="rId3"/>
              </a:rPr>
              <a:t>https://www.oracle.com/in/database/what-is-database/</a:t>
            </a:r>
            <a:endParaRPr lang="en-IN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7213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SQLite: </a:t>
            </a:r>
            <a:r>
              <a:rPr lang="en-IN" dirty="0"/>
              <a:t>SQLite is a lightweight, file-based relational database management system that doesn't require a separate server process. It is widely used in embedded systems, mobile applications, and small-scale projects.</a:t>
            </a:r>
          </a:p>
          <a:p>
            <a:endParaRPr lang="en-IN" dirty="0"/>
          </a:p>
          <a:p>
            <a:r>
              <a:rPr lang="en-IN" b="1" dirty="0"/>
              <a:t>Amazon Aurora: </a:t>
            </a:r>
            <a:r>
              <a:rPr lang="en-IN" dirty="0"/>
              <a:t>Amazon Aurora is a relational database service provided by Amazon Web Services (AWS). It is compatible with MySQL and </a:t>
            </a:r>
            <a:r>
              <a:rPr lang="en-IN" dirty="0" err="1"/>
              <a:t>PostgreSQL</a:t>
            </a:r>
            <a:r>
              <a:rPr lang="en-IN" dirty="0"/>
              <a:t> and is designed for high performance, scalability, and reliability in the cloud.</a:t>
            </a:r>
          </a:p>
          <a:p>
            <a:endParaRPr lang="en-IN" dirty="0"/>
          </a:p>
          <a:p>
            <a:r>
              <a:rPr lang="en-IN" b="1" dirty="0" err="1"/>
              <a:t>Elasticsearch</a:t>
            </a:r>
            <a:r>
              <a:rPr lang="en-IN" b="1" dirty="0"/>
              <a:t>: </a:t>
            </a:r>
            <a:r>
              <a:rPr lang="en-IN" dirty="0" err="1"/>
              <a:t>Elasticsearch</a:t>
            </a:r>
            <a:r>
              <a:rPr lang="en-IN" dirty="0"/>
              <a:t> is a distributed search and analytics engine that is often used for full-text search, log analysis, and data analysis. It provides near real-time data indexing and querying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785880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877033"/>
            <a:ext cx="1299300" cy="5772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9451"/>
            <a:ext cx="8661398" cy="6867451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454351"/>
            <a:ext cx="8847502" cy="3949300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7" y="5704465"/>
            <a:ext cx="5480829" cy="577328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492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54"/>
            <a:ext cx="7072430" cy="1769753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5963632"/>
            <a:ext cx="2202830" cy="894393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2050651"/>
            <a:ext cx="3378300" cy="36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769800"/>
            <a:ext cx="6132600" cy="41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454333"/>
            <a:ext cx="5367900" cy="39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Database Management System (DBMS)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258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AGENDA</a:t>
            </a:r>
            <a:endParaRPr sz="2400" dirty="0"/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4" y="765489"/>
            <a:ext cx="309041" cy="537497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5053869" cy="3888432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100" dirty="0"/>
              <a:t>Introduction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100" dirty="0"/>
              <a:t>What is Database?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100" dirty="0"/>
              <a:t>What is DBMS?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100" dirty="0"/>
              <a:t>Glossary Terms in DBMS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100" dirty="0"/>
              <a:t>Types of Databases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100" dirty="0"/>
              <a:t>Various DBMS </a:t>
            </a:r>
            <a:r>
              <a:rPr lang="en-IN" sz="2100" dirty="0" err="1"/>
              <a:t>Softwares</a:t>
            </a:r>
            <a:endParaRPr lang="en-IN" sz="2100" dirty="0"/>
          </a:p>
        </p:txBody>
      </p:sp>
      <p:grpSp>
        <p:nvGrpSpPr>
          <p:cNvPr id="25" name="Google Shape;250;p17"/>
          <p:cNvGrpSpPr/>
          <p:nvPr/>
        </p:nvGrpSpPr>
        <p:grpSpPr>
          <a:xfrm>
            <a:off x="6280382" y="2202989"/>
            <a:ext cx="1588639" cy="2118207"/>
            <a:chOff x="6643075" y="3664250"/>
            <a:chExt cx="407950" cy="407975"/>
          </a:xfrm>
        </p:grpSpPr>
        <p:sp>
          <p:nvSpPr>
            <p:cNvPr id="26" name="Google Shape;251;p17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2;p17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53;p17"/>
          <p:cNvGrpSpPr/>
          <p:nvPr/>
        </p:nvGrpSpPr>
        <p:grpSpPr>
          <a:xfrm rot="-587363">
            <a:off x="6187152" y="4597202"/>
            <a:ext cx="653127" cy="870845"/>
            <a:chOff x="576250" y="4319400"/>
            <a:chExt cx="442075" cy="442050"/>
          </a:xfrm>
        </p:grpSpPr>
        <p:sp>
          <p:nvSpPr>
            <p:cNvPr id="29" name="Google Shape;254;p1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5;p17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6;p17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7;p17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258;p17"/>
          <p:cNvSpPr/>
          <p:nvPr/>
        </p:nvSpPr>
        <p:spPr>
          <a:xfrm>
            <a:off x="5900624" y="2692016"/>
            <a:ext cx="248336" cy="31616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259;p17"/>
          <p:cNvSpPr/>
          <p:nvPr/>
        </p:nvSpPr>
        <p:spPr>
          <a:xfrm rot="2697322">
            <a:off x="7536980" y="4310509"/>
            <a:ext cx="376961" cy="479915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60;p17"/>
          <p:cNvSpPr/>
          <p:nvPr/>
        </p:nvSpPr>
        <p:spPr>
          <a:xfrm>
            <a:off x="7835192" y="4036547"/>
            <a:ext cx="150972" cy="192301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261;p17"/>
          <p:cNvSpPr/>
          <p:nvPr/>
        </p:nvSpPr>
        <p:spPr>
          <a:xfrm rot="1280149">
            <a:off x="5728591" y="3645600"/>
            <a:ext cx="150975" cy="192272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523433"/>
            <a:ext cx="5492400" cy="10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400" dirty="0"/>
              <a:t>Introduction</a:t>
            </a:r>
            <a:endParaRPr sz="2400"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814274" y="2132856"/>
            <a:ext cx="7790173" cy="38309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dirty="0"/>
              <a:t>A database management system (DBMS) is system software for creating and managing databases.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000" dirty="0"/>
              <a:t>The name “database management system” consists of two parts.</a:t>
            </a:r>
          </a:p>
          <a:p>
            <a:pPr marL="1447800" lvl="2" indent="-4572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 typeface="+mj-lt"/>
              <a:buAutoNum type="arabicPeriod"/>
            </a:pPr>
            <a:r>
              <a:rPr lang="en-IN" sz="2000" dirty="0"/>
              <a:t>Database and</a:t>
            </a:r>
          </a:p>
          <a:p>
            <a:pPr marL="1447800" lvl="2" indent="-4572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Pct val="100000"/>
              <a:buFont typeface="+mj-lt"/>
              <a:buAutoNum type="arabicPeriod"/>
            </a:pPr>
            <a:r>
              <a:rPr lang="en-IN" sz="2000" dirty="0"/>
              <a:t>Management System</a:t>
            </a:r>
            <a:endParaRPr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6182000"/>
            <a:ext cx="1487400" cy="4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7" y="787891"/>
            <a:ext cx="369505" cy="492673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 What is a Database?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b="1" i="1" dirty="0"/>
              <a:t>“Collection of related Tables (or Relations)”.</a:t>
            </a:r>
          </a:p>
          <a:p>
            <a:endParaRPr lang="en-IN" sz="2000" dirty="0"/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sz="2000" dirty="0"/>
              <a:t>A database is an organized collection of structured information, or data, typically stored electronically in a computer system.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lang="en-IN" sz="2000" dirty="0"/>
              <a:t>A database is usually controlled by a database management system (DBMS).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1786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839" y="2204864"/>
            <a:ext cx="3973657" cy="29447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045" y="523433"/>
            <a:ext cx="5839131" cy="1021600"/>
          </a:xfrm>
        </p:spPr>
        <p:txBody>
          <a:bodyPr/>
          <a:lstStyle/>
          <a:p>
            <a:r>
              <a:rPr lang="en-IN" sz="2400" dirty="0"/>
              <a:t>What is DBMS?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1772816"/>
            <a:ext cx="4680520" cy="482755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IN" sz="2000" i="1" dirty="0"/>
              <a:t>“Software to manage databases”.</a:t>
            </a:r>
          </a:p>
          <a:p>
            <a:pPr>
              <a:lnSpc>
                <a:spcPct val="150000"/>
              </a:lnSpc>
            </a:pPr>
            <a:endParaRPr lang="en-IN" sz="1100" dirty="0"/>
          </a:p>
          <a:p>
            <a:pPr>
              <a:lnSpc>
                <a:spcPct val="150000"/>
              </a:lnSpc>
            </a:pPr>
            <a:r>
              <a:rPr lang="en-IN" sz="2000" dirty="0"/>
              <a:t>A Database Management System (DBMS) is a software program that allows users to interact with </a:t>
            </a:r>
            <a:r>
              <a:rPr lang="en-IN" sz="2000" b="1" dirty="0"/>
              <a:t>a database </a:t>
            </a:r>
            <a:r>
              <a:rPr lang="en-IN" sz="2000" dirty="0"/>
              <a:t>in order to store, retrieve, and manipulate data. The DBMS serves as an interface between the database and the users or application programs. </a:t>
            </a:r>
          </a:p>
          <a:p>
            <a:pPr>
              <a:lnSpc>
                <a:spcPct val="150000"/>
              </a:lnSpc>
            </a:pPr>
            <a:endParaRPr lang="en-IN" sz="900" dirty="0"/>
          </a:p>
          <a:p>
            <a:pPr>
              <a:lnSpc>
                <a:spcPct val="150000"/>
              </a:lnSpc>
            </a:pPr>
            <a:r>
              <a:rPr lang="en-IN" sz="2000" dirty="0"/>
              <a:t>Also, it enables users to create, modify, and maintain the database, as well as control access to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3309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Glossary Terms in DBMS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b="1" dirty="0"/>
              <a:t>Table</a:t>
            </a:r>
            <a:r>
              <a:rPr lang="en-IN" sz="2000" dirty="0"/>
              <a:t> or </a:t>
            </a:r>
            <a:r>
              <a:rPr lang="en-IN" sz="2000" b="1" dirty="0"/>
              <a:t>Relation</a:t>
            </a:r>
            <a:r>
              <a:rPr lang="en-IN" sz="2000" dirty="0"/>
              <a:t>: Collection of related records</a:t>
            </a:r>
          </a:p>
          <a:p>
            <a:endParaRPr lang="en-IN" sz="2000" dirty="0"/>
          </a:p>
          <a:p>
            <a:r>
              <a:rPr lang="en-IN" sz="2000" b="1" dirty="0"/>
              <a:t>Record</a:t>
            </a:r>
            <a:r>
              <a:rPr lang="en-IN" sz="2000" dirty="0"/>
              <a:t> or </a:t>
            </a:r>
            <a:r>
              <a:rPr lang="en-IN" sz="2000" b="1" dirty="0"/>
              <a:t>Tuple</a:t>
            </a:r>
            <a:r>
              <a:rPr lang="en-IN" sz="2000" dirty="0"/>
              <a:t>: Collection of related data items. </a:t>
            </a:r>
            <a:r>
              <a:rPr lang="en-IN" sz="2000" dirty="0" err="1"/>
              <a:t>ie</a:t>
            </a:r>
            <a:r>
              <a:rPr lang="en-IN" sz="2000" dirty="0"/>
              <a:t>., a row in a table. (A structured information)</a:t>
            </a:r>
          </a:p>
          <a:p>
            <a:endParaRPr lang="en-IN" sz="2000" dirty="0"/>
          </a:p>
          <a:p>
            <a:r>
              <a:rPr lang="en-IN" sz="2000" dirty="0"/>
              <a:t>The columns are called </a:t>
            </a:r>
            <a:r>
              <a:rPr lang="en-IN" sz="2000" b="1" dirty="0"/>
              <a:t>Fields, Attributes or Domains.</a:t>
            </a:r>
          </a:p>
          <a:p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172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Types of Data Models / Designs – (familiar)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92" y="2204864"/>
            <a:ext cx="3600400" cy="3781915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Relational Model (Tabular Model)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Flat Data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Entity-Relationship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Network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Hierarchical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860032" y="2417872"/>
            <a:ext cx="3456384" cy="331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Object-oriented Data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Object Relation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Record Based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Semi-structured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Associative Model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en-IN" sz="1800" dirty="0"/>
              <a:t>Context Data Model</a:t>
            </a:r>
          </a:p>
        </p:txBody>
      </p:sp>
    </p:spTree>
    <p:extLst>
      <p:ext uri="{BB962C8B-B14F-4D97-AF65-F5344CB8AC3E}">
        <p14:creationId xmlns:p14="http://schemas.microsoft.com/office/powerpoint/2010/main" val="75271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Types of Data Bases – (familiar)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92" y="2083403"/>
            <a:ext cx="3703675" cy="40110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Relational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Object-Oriented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Hierarchical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Network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Key-Value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Document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4572000" y="2204864"/>
            <a:ext cx="3168352" cy="388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dirty="0"/>
              <a:t>Columnar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Graph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Time-Series Database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Spatial Database</a:t>
            </a:r>
          </a:p>
          <a:p>
            <a:pPr>
              <a:lnSpc>
                <a:spcPct val="150000"/>
              </a:lnSpc>
            </a:pPr>
            <a:r>
              <a:rPr lang="en-IN" sz="2000" dirty="0" err="1"/>
              <a:t>NoSQL</a:t>
            </a:r>
            <a:r>
              <a:rPr lang="en-IN" sz="2000" dirty="0"/>
              <a:t> databases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Distributed databases</a:t>
            </a:r>
          </a:p>
        </p:txBody>
      </p:sp>
    </p:spTree>
    <p:extLst>
      <p:ext uri="{BB962C8B-B14F-4D97-AF65-F5344CB8AC3E}">
        <p14:creationId xmlns:p14="http://schemas.microsoft.com/office/powerpoint/2010/main" val="3047987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Famous DBMS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607" y="1769800"/>
            <a:ext cx="5903267" cy="489956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Oracle Database </a:t>
            </a:r>
            <a:r>
              <a:rPr lang="en-IN" sz="2000" dirty="0"/>
              <a:t>: RDBMS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MySQL</a:t>
            </a:r>
            <a:r>
              <a:rPr lang="en-IN" sz="2000" dirty="0"/>
              <a:t> : RDBMS, mainly for Web Applications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Microsoft SQL Server: </a:t>
            </a:r>
            <a:r>
              <a:rPr lang="en-IN" sz="2000" dirty="0"/>
              <a:t>RDMS</a:t>
            </a:r>
          </a:p>
          <a:p>
            <a:pPr>
              <a:lnSpc>
                <a:spcPct val="150000"/>
              </a:lnSpc>
            </a:pPr>
            <a:r>
              <a:rPr lang="en-IN" sz="2000" b="1" dirty="0" err="1"/>
              <a:t>PostgreSQL</a:t>
            </a:r>
            <a:r>
              <a:rPr lang="en-IN" sz="2000" dirty="0"/>
              <a:t> : object-relational DBMS</a:t>
            </a:r>
          </a:p>
          <a:p>
            <a:pPr>
              <a:lnSpc>
                <a:spcPct val="150000"/>
              </a:lnSpc>
            </a:pPr>
            <a:r>
              <a:rPr lang="en-IN" sz="2000" b="1" dirty="0" err="1"/>
              <a:t>MongoDB</a:t>
            </a:r>
            <a:r>
              <a:rPr lang="en-IN" sz="2000" dirty="0"/>
              <a:t> : document-oriented </a:t>
            </a:r>
            <a:r>
              <a:rPr lang="en-IN" sz="2000" dirty="0" err="1"/>
              <a:t>NoSQL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Cassandra</a:t>
            </a:r>
            <a:r>
              <a:rPr lang="en-IN" sz="2000" dirty="0"/>
              <a:t> : distributed &amp; </a:t>
            </a:r>
            <a:r>
              <a:rPr lang="en-IN" sz="2000" dirty="0" err="1"/>
              <a:t>NoSQL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 err="1"/>
              <a:t>Redis</a:t>
            </a:r>
            <a:r>
              <a:rPr lang="en-IN" sz="2000" dirty="0"/>
              <a:t> : key-value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SQLite </a:t>
            </a:r>
            <a:r>
              <a:rPr lang="en-IN" sz="2000" dirty="0"/>
              <a:t>: RDBMS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Amazon Aurora </a:t>
            </a:r>
            <a:r>
              <a:rPr lang="en-IN" sz="2000" dirty="0"/>
              <a:t>: RDBMS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Elasticsearch </a:t>
            </a:r>
            <a:r>
              <a:rPr lang="en-IN" sz="2000" dirty="0"/>
              <a:t>: Document-oriented NoSQL (search engine)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37077614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515</Words>
  <Application>Microsoft Office PowerPoint</Application>
  <PresentationFormat>On-screen Show (4:3)</PresentationFormat>
  <Paragraphs>87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Arvo</vt:lpstr>
      <vt:lpstr>Arial</vt:lpstr>
      <vt:lpstr>Roboto Condensed</vt:lpstr>
      <vt:lpstr>Roboto Condensed Light</vt:lpstr>
      <vt:lpstr>Salerio template</vt:lpstr>
      <vt:lpstr>Database Management System (DBMS)</vt:lpstr>
      <vt:lpstr>AGENDA</vt:lpstr>
      <vt:lpstr>Introduction</vt:lpstr>
      <vt:lpstr> What is a Database?</vt:lpstr>
      <vt:lpstr>What is DBMS?</vt:lpstr>
      <vt:lpstr>Glossary Terms in DBMS</vt:lpstr>
      <vt:lpstr>Types of Data Models / Designs – (familiar)</vt:lpstr>
      <vt:lpstr>Types of Data Bases – (familiar)</vt:lpstr>
      <vt:lpstr>Famous DBMS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Daphy Meurial</dc:creator>
  <cp:lastModifiedBy>Microsoft account</cp:lastModifiedBy>
  <cp:revision>37</cp:revision>
  <dcterms:modified xsi:type="dcterms:W3CDTF">2026-06-19T08:44:27Z</dcterms:modified>
</cp:coreProperties>
</file>