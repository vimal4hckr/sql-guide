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35"/>
  </p:notesMasterIdLst>
  <p:sldIdLst>
    <p:sldId id="256" r:id="rId2"/>
    <p:sldId id="257" r:id="rId3"/>
    <p:sldId id="300" r:id="rId4"/>
    <p:sldId id="261" r:id="rId5"/>
    <p:sldId id="324" r:id="rId6"/>
    <p:sldId id="328" r:id="rId7"/>
    <p:sldId id="329" r:id="rId8"/>
    <p:sldId id="330" r:id="rId9"/>
    <p:sldId id="331" r:id="rId10"/>
    <p:sldId id="333" r:id="rId11"/>
    <p:sldId id="291" r:id="rId12"/>
    <p:sldId id="325" r:id="rId13"/>
    <p:sldId id="327" r:id="rId14"/>
    <p:sldId id="332"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350" r:id="rId32"/>
    <p:sldId id="351" r:id="rId33"/>
    <p:sldId id="352" r:id="rId34"/>
  </p:sldIdLst>
  <p:sldSz cx="9144000" cy="6858000" type="screen4x3"/>
  <p:notesSz cx="6858000" cy="9144000"/>
  <p:embeddedFontLst>
    <p:embeddedFont>
      <p:font typeface="Roboto Condensed" panose="020B0604020202020204" charset="0"/>
      <p:regular r:id="rId36"/>
      <p:bold r:id="rId37"/>
      <p:italic r:id="rId38"/>
      <p:boldItalic r:id="rId39"/>
    </p:embeddedFont>
    <p:embeddedFont>
      <p:font typeface="Roboto Condensed Light" panose="020B0604020202020204" charset="0"/>
      <p:regular r:id="rId40"/>
      <p:bold r:id="rId41"/>
      <p:italic r:id="rId42"/>
      <p:boldItalic r:id="rId43"/>
    </p:embeddedFont>
    <p:embeddedFont>
      <p:font typeface="Raavi" panose="020B0604020202020204" charset="0"/>
      <p:regular r:id="rId44"/>
      <p:bold r:id="rId45"/>
    </p:embeddedFont>
    <p:embeddedFont>
      <p:font typeface="Arvo"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ECFE"/>
    <a:srgbClr val="C6E6FC"/>
    <a:srgbClr val="C5D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7665BA-8202-44FC-AD62-C9F0E3EA811A}">
  <a:tblStyle styleId="{E27665BA-8202-44FC-AD62-C9F0E3EA811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DE48A-E3B5-44D0-98CB-AE0B3FDC037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342" autoAdjust="0"/>
  </p:normalViewPr>
  <p:slideViewPr>
    <p:cSldViewPr>
      <p:cViewPr varScale="1">
        <p:scale>
          <a:sx n="58" d="100"/>
          <a:sy n="58" d="100"/>
        </p:scale>
        <p:origin x="152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6495297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4257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0210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debaa7b3a2_1_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debaa7b3a2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8599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75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debaa7b3a2_1_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debaa7b3a2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2407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https://blog.devart.com/mysql-insert-statement-inserting-row-into-a-table.html</a:t>
            </a:r>
            <a:endParaRPr lang="en-IN" dirty="0"/>
          </a:p>
        </p:txBody>
      </p:sp>
    </p:spTree>
    <p:extLst>
      <p:ext uri="{BB962C8B-B14F-4D97-AF65-F5344CB8AC3E}">
        <p14:creationId xmlns:p14="http://schemas.microsoft.com/office/powerpoint/2010/main" val="1928151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marR="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N" dirty="0" smtClean="0"/>
              <a:t>https://blog.devart.com/mysql-insert-statement-inserting-row-into-a-table.html</a:t>
            </a:r>
          </a:p>
        </p:txBody>
      </p:sp>
    </p:spTree>
    <p:extLst>
      <p:ext uri="{BB962C8B-B14F-4D97-AF65-F5344CB8AC3E}">
        <p14:creationId xmlns:p14="http://schemas.microsoft.com/office/powerpoint/2010/main" val="2841123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https://www.mysqltutorial.org/mysql-insert-multiple-rows/</a:t>
            </a:r>
            <a:r>
              <a:rPr lang="en-IN" baseline="0" dirty="0" smtClean="0"/>
              <a:t> </a:t>
            </a:r>
            <a:r>
              <a:rPr lang="en-IN" b="1" baseline="0" dirty="0" smtClean="0"/>
              <a:t>(Max size packet size)</a:t>
            </a:r>
            <a:endParaRPr lang="en-IN" b="1" dirty="0" smtClean="0"/>
          </a:p>
        </p:txBody>
      </p:sp>
    </p:spTree>
    <p:extLst>
      <p:ext uri="{BB962C8B-B14F-4D97-AF65-F5344CB8AC3E}">
        <p14:creationId xmlns:p14="http://schemas.microsoft.com/office/powerpoint/2010/main" val="3051826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endParaRPr lang="en-IN" dirty="0"/>
          </a:p>
        </p:txBody>
      </p:sp>
    </p:spTree>
    <p:extLst>
      <p:ext uri="{BB962C8B-B14F-4D97-AF65-F5344CB8AC3E}">
        <p14:creationId xmlns:p14="http://schemas.microsoft.com/office/powerpoint/2010/main" val="1636110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7385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debaa7b3a2_1_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debaa7b3a2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2455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https://www.educba.com/mysql-with/</a:t>
            </a:r>
            <a:endParaRPr lang="en-IN" dirty="0"/>
          </a:p>
        </p:txBody>
      </p:sp>
    </p:spTree>
    <p:extLst>
      <p:ext uri="{BB962C8B-B14F-4D97-AF65-F5344CB8AC3E}">
        <p14:creationId xmlns:p14="http://schemas.microsoft.com/office/powerpoint/2010/main" val="3092119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877033"/>
            <a:ext cx="1299300" cy="5772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9451"/>
            <a:ext cx="8661398" cy="6867451"/>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454351"/>
            <a:ext cx="8847502" cy="3949300"/>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7" y="5704465"/>
            <a:ext cx="5480829" cy="577328"/>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454333"/>
            <a:ext cx="5367900" cy="394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6946842" y="5963632"/>
            <a:ext cx="2202830" cy="894393"/>
            <a:chOff x="5575242" y="4472723"/>
            <a:chExt cx="2202830" cy="670795"/>
          </a:xfrm>
        </p:grpSpPr>
        <p:sp>
          <p:nvSpPr>
            <p:cNvPr id="63" name="Google Shape;63;p5"/>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5"/>
            <p:cNvGrpSpPr/>
            <p:nvPr/>
          </p:nvGrpSpPr>
          <p:grpSpPr>
            <a:xfrm flipH="1">
              <a:off x="5734850" y="4472723"/>
              <a:ext cx="2040837" cy="670795"/>
              <a:chOff x="1297954" y="330075"/>
              <a:chExt cx="5169293" cy="1699506"/>
            </a:xfrm>
          </p:grpSpPr>
          <p:sp>
            <p:nvSpPr>
              <p:cNvPr id="65" name="Google Shape;65;p5"/>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5"/>
            <p:cNvGrpSpPr/>
            <p:nvPr/>
          </p:nvGrpSpPr>
          <p:grpSpPr>
            <a:xfrm flipH="1">
              <a:off x="5578209" y="4646738"/>
              <a:ext cx="2199863" cy="304563"/>
              <a:chOff x="-5827153" y="330075"/>
              <a:chExt cx="12276019" cy="1699569"/>
            </a:xfrm>
          </p:grpSpPr>
          <p:sp>
            <p:nvSpPr>
              <p:cNvPr id="68" name="Google Shape;68;p5"/>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 name="Google Shape;70;p5"/>
          <p:cNvGrpSpPr/>
          <p:nvPr/>
        </p:nvGrpSpPr>
        <p:grpSpPr>
          <a:xfrm>
            <a:off x="-4" y="54"/>
            <a:ext cx="7072430" cy="1769753"/>
            <a:chOff x="-4" y="40"/>
            <a:chExt cx="7072430" cy="1327315"/>
          </a:xfrm>
        </p:grpSpPr>
        <p:sp>
          <p:nvSpPr>
            <p:cNvPr id="71" name="Google Shape;71;p5"/>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72" name="Google Shape;72;p5"/>
            <p:cNvGrpSpPr/>
            <p:nvPr/>
          </p:nvGrpSpPr>
          <p:grpSpPr>
            <a:xfrm rot="10800000" flipH="1">
              <a:off x="3" y="40"/>
              <a:ext cx="6756168" cy="1327315"/>
              <a:chOff x="-2168138" y="330075"/>
              <a:chExt cx="8650663" cy="1699506"/>
            </a:xfrm>
          </p:grpSpPr>
          <p:sp>
            <p:nvSpPr>
              <p:cNvPr id="73" name="Google Shape;73;p5"/>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4" name="Google Shape;74;p5"/>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75" name="Google Shape;75;p5"/>
            <p:cNvGrpSpPr/>
            <p:nvPr/>
          </p:nvGrpSpPr>
          <p:grpSpPr>
            <a:xfrm rot="10800000" flipH="1">
              <a:off x="-4" y="381007"/>
              <a:ext cx="7072430" cy="771744"/>
              <a:chOff x="-9092084" y="330075"/>
              <a:chExt cx="15574609" cy="1699501"/>
            </a:xfrm>
          </p:grpSpPr>
          <p:sp>
            <p:nvSpPr>
              <p:cNvPr id="76" name="Google Shape;76;p5"/>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7" name="Google Shape;77;p5"/>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sp>
        <p:nvSpPr>
          <p:cNvPr id="78" name="Google Shape;78;p5"/>
          <p:cNvSpPr txBox="1">
            <a:spLocks noGrp="1"/>
          </p:cNvSpPr>
          <p:nvPr>
            <p:ph type="title"/>
          </p:nvPr>
        </p:nvSpPr>
        <p:spPr>
          <a:xfrm>
            <a:off x="814275" y="523433"/>
            <a:ext cx="54924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769800"/>
            <a:ext cx="6132600" cy="41940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6182000"/>
            <a:ext cx="14874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54"/>
            <a:ext cx="7072430" cy="1769753"/>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5963632"/>
            <a:ext cx="2202830" cy="894393"/>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523433"/>
            <a:ext cx="52584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2050651"/>
            <a:ext cx="3378300" cy="36324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2050651"/>
            <a:ext cx="3378300" cy="36324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6182000"/>
            <a:ext cx="14874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5697214" y="3514025"/>
            <a:ext cx="889200" cy="3952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25" name="Google Shape;25;p3"/>
          <p:cNvGrpSpPr/>
          <p:nvPr/>
        </p:nvGrpSpPr>
        <p:grpSpPr>
          <a:xfrm>
            <a:off x="0" y="-9451"/>
            <a:ext cx="8661398" cy="6867451"/>
            <a:chOff x="0" y="-7088"/>
            <a:chExt cx="8661398" cy="5150588"/>
          </a:xfrm>
        </p:grpSpPr>
        <p:sp>
          <p:nvSpPr>
            <p:cNvPr id="26" name="Google Shape;26;p3"/>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28" name="Google Shape;28;p3"/>
          <p:cNvGrpSpPr/>
          <p:nvPr/>
        </p:nvGrpSpPr>
        <p:grpSpPr>
          <a:xfrm rot="10800000" flipH="1">
            <a:off x="-2" y="3899768"/>
            <a:ext cx="6589087" cy="2703024"/>
            <a:chOff x="-9894852" y="-4493254"/>
            <a:chExt cx="21200407" cy="6522740"/>
          </a:xfrm>
        </p:grpSpPr>
        <p:sp>
          <p:nvSpPr>
            <p:cNvPr id="29" name="Google Shape;29;p3"/>
            <p:cNvSpPr/>
            <p:nvPr/>
          </p:nvSpPr>
          <p:spPr>
            <a:xfrm>
              <a:off x="-9894852" y="-4493114"/>
              <a:ext cx="146853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31;p3"/>
          <p:cNvGrpSpPr/>
          <p:nvPr/>
        </p:nvGrpSpPr>
        <p:grpSpPr>
          <a:xfrm>
            <a:off x="6946842" y="5963632"/>
            <a:ext cx="2202830"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39;p3"/>
          <p:cNvSpPr txBox="1">
            <a:spLocks noGrp="1"/>
          </p:cNvSpPr>
          <p:nvPr>
            <p:ph type="ctrTitle"/>
          </p:nvPr>
        </p:nvSpPr>
        <p:spPr>
          <a:xfrm>
            <a:off x="463525" y="3828197"/>
            <a:ext cx="4094400" cy="1546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0" name="Google Shape;40;p3"/>
          <p:cNvSpPr txBox="1">
            <a:spLocks noGrp="1"/>
          </p:cNvSpPr>
          <p:nvPr>
            <p:ph type="subTitle" idx="1"/>
          </p:nvPr>
        </p:nvSpPr>
        <p:spPr>
          <a:xfrm>
            <a:off x="463525" y="5300599"/>
            <a:ext cx="4094400" cy="1046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2000"/>
              <a:buNone/>
              <a:defRPr sz="2000">
                <a:solidFill>
                  <a:schemeClr val="accent5"/>
                </a:solidFill>
              </a:defRPr>
            </a:lvl1pPr>
            <a:lvl2pPr lvl="1" rtl="0">
              <a:spcBef>
                <a:spcPts val="1000"/>
              </a:spcBef>
              <a:spcAft>
                <a:spcPts val="0"/>
              </a:spcAft>
              <a:buClr>
                <a:schemeClr val="accent5"/>
              </a:buClr>
              <a:buSzPts val="2000"/>
              <a:buNone/>
              <a:defRPr sz="2000">
                <a:solidFill>
                  <a:schemeClr val="accent5"/>
                </a:solidFill>
              </a:defRPr>
            </a:lvl2pPr>
            <a:lvl3pPr lvl="2" rtl="0">
              <a:spcBef>
                <a:spcPts val="1000"/>
              </a:spcBef>
              <a:spcAft>
                <a:spcPts val="0"/>
              </a:spcAft>
              <a:buClr>
                <a:schemeClr val="accent5"/>
              </a:buClr>
              <a:buSzPts val="2000"/>
              <a:buNone/>
              <a:defRPr sz="2000">
                <a:solidFill>
                  <a:schemeClr val="accent5"/>
                </a:solidFill>
              </a:defRPr>
            </a:lvl3pPr>
            <a:lvl4pPr lvl="3" rtl="0">
              <a:spcBef>
                <a:spcPts val="1000"/>
              </a:spcBef>
              <a:spcAft>
                <a:spcPts val="0"/>
              </a:spcAft>
              <a:buClr>
                <a:schemeClr val="accent5"/>
              </a:buClr>
              <a:buSzPts val="2000"/>
              <a:buNone/>
              <a:defRPr sz="2000">
                <a:solidFill>
                  <a:schemeClr val="accent5"/>
                </a:solidFill>
              </a:defRPr>
            </a:lvl4pPr>
            <a:lvl5pPr lvl="4" rtl="0">
              <a:spcBef>
                <a:spcPts val="1000"/>
              </a:spcBef>
              <a:spcAft>
                <a:spcPts val="0"/>
              </a:spcAft>
              <a:buClr>
                <a:schemeClr val="accent5"/>
              </a:buClr>
              <a:buSzPts val="2000"/>
              <a:buNone/>
              <a:defRPr sz="2000">
                <a:solidFill>
                  <a:schemeClr val="accent5"/>
                </a:solidFill>
              </a:defRPr>
            </a:lvl5pPr>
            <a:lvl6pPr lvl="5" rtl="0">
              <a:spcBef>
                <a:spcPts val="1000"/>
              </a:spcBef>
              <a:spcAft>
                <a:spcPts val="0"/>
              </a:spcAft>
              <a:buClr>
                <a:schemeClr val="accent5"/>
              </a:buClr>
              <a:buSzPts val="2000"/>
              <a:buNone/>
              <a:defRPr sz="2000">
                <a:solidFill>
                  <a:schemeClr val="accent5"/>
                </a:solidFill>
              </a:defRPr>
            </a:lvl6pPr>
            <a:lvl7pPr lvl="6" rtl="0">
              <a:spcBef>
                <a:spcPts val="1000"/>
              </a:spcBef>
              <a:spcAft>
                <a:spcPts val="0"/>
              </a:spcAft>
              <a:buClr>
                <a:schemeClr val="accent5"/>
              </a:buClr>
              <a:buSzPts val="2000"/>
              <a:buNone/>
              <a:defRPr sz="2000">
                <a:solidFill>
                  <a:schemeClr val="accent5"/>
                </a:solidFill>
              </a:defRPr>
            </a:lvl7pPr>
            <a:lvl8pPr lvl="7" rtl="0">
              <a:spcBef>
                <a:spcPts val="1000"/>
              </a:spcBef>
              <a:spcAft>
                <a:spcPts val="0"/>
              </a:spcAft>
              <a:buClr>
                <a:schemeClr val="accent5"/>
              </a:buClr>
              <a:buSzPts val="2000"/>
              <a:buNone/>
              <a:defRPr sz="2000">
                <a:solidFill>
                  <a:schemeClr val="accent5"/>
                </a:solidFill>
              </a:defRPr>
            </a:lvl8pPr>
            <a:lvl9pPr lvl="8" rtl="0">
              <a:spcBef>
                <a:spcPts val="1000"/>
              </a:spcBef>
              <a:spcAft>
                <a:spcPts val="1000"/>
              </a:spcAft>
              <a:buClr>
                <a:schemeClr val="accent5"/>
              </a:buClr>
              <a:buSzPts val="2000"/>
              <a:buNone/>
              <a:defRPr sz="2000">
                <a:solidFill>
                  <a:schemeClr val="accent5"/>
                </a:solidFill>
              </a:defRPr>
            </a:lvl9pPr>
          </a:lstStyle>
          <a:p>
            <a:endParaRPr/>
          </a:p>
        </p:txBody>
      </p:sp>
      <p:sp>
        <p:nvSpPr>
          <p:cNvPr id="41" name="Google Shape;41;p3"/>
          <p:cNvSpPr txBox="1">
            <a:spLocks noGrp="1"/>
          </p:cNvSpPr>
          <p:nvPr>
            <p:ph type="sldNum" idx="12"/>
          </p:nvPr>
        </p:nvSpPr>
        <p:spPr>
          <a:xfrm>
            <a:off x="7618000" y="6182000"/>
            <a:ext cx="14874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688180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523433"/>
            <a:ext cx="5258400" cy="1021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769800"/>
            <a:ext cx="6132600" cy="41940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6182000"/>
            <a:ext cx="1487400" cy="4208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8"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685800" y="1454333"/>
            <a:ext cx="5367900" cy="3949200"/>
          </a:xfrm>
          <a:prstGeom prst="rect">
            <a:avLst/>
          </a:prstGeom>
        </p:spPr>
        <p:txBody>
          <a:bodyPr spcFirstLastPara="1" wrap="square" lIns="91425" tIns="91425" rIns="91425" bIns="91425" anchor="ctr" anchorCtr="0">
            <a:noAutofit/>
          </a:bodyPr>
          <a:lstStyle/>
          <a:p>
            <a:pPr lvl="0"/>
            <a:r>
              <a:rPr lang="en-IN" dirty="0" smtClean="0"/>
              <a:t>Data Manipulation Language </a:t>
            </a:r>
            <a:r>
              <a:rPr lang="en-IN" dirty="0"/>
              <a:t>(DML)</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523433"/>
            <a:ext cx="5258400" cy="1021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smtClean="0"/>
              <a:t>AGENDA</a:t>
            </a:r>
            <a:endParaRPr sz="2400" dirty="0"/>
          </a:p>
        </p:txBody>
      </p:sp>
      <p:sp>
        <p:nvSpPr>
          <p:cNvPr id="192" name="Google Shape;192;p12"/>
          <p:cNvSpPr txBox="1">
            <a:spLocks noGrp="1"/>
          </p:cNvSpPr>
          <p:nvPr>
            <p:ph type="sldNum" idx="12"/>
          </p:nvPr>
        </p:nvSpPr>
        <p:spPr>
          <a:xfrm>
            <a:off x="7618000" y="6182000"/>
            <a:ext cx="1487400" cy="42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grpSp>
        <p:nvGrpSpPr>
          <p:cNvPr id="194" name="Google Shape;194;p12"/>
          <p:cNvGrpSpPr/>
          <p:nvPr/>
        </p:nvGrpSpPr>
        <p:grpSpPr>
          <a:xfrm>
            <a:off x="293684" y="765489"/>
            <a:ext cx="309041"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 Placeholder 2"/>
          <p:cNvSpPr>
            <a:spLocks noGrp="1"/>
          </p:cNvSpPr>
          <p:nvPr>
            <p:ph type="body" idx="1"/>
          </p:nvPr>
        </p:nvSpPr>
        <p:spPr>
          <a:xfrm>
            <a:off x="1259632" y="1844824"/>
            <a:ext cx="7128792" cy="4464496"/>
          </a:xfrm>
        </p:spPr>
        <p:txBody>
          <a:bodyPr>
            <a:normAutofit fontScale="92500"/>
          </a:bodyPr>
          <a:lstStyle/>
          <a:p>
            <a:pPr>
              <a:lnSpc>
                <a:spcPct val="200000"/>
              </a:lnSpc>
              <a:buClrTx/>
            </a:pPr>
            <a:r>
              <a:rPr lang="en-IN" sz="2100" dirty="0" smtClean="0"/>
              <a:t>What is DML?</a:t>
            </a:r>
          </a:p>
          <a:p>
            <a:pPr>
              <a:lnSpc>
                <a:spcPct val="200000"/>
              </a:lnSpc>
              <a:buClrTx/>
            </a:pPr>
            <a:r>
              <a:rPr lang="en-IN" sz="2100" dirty="0" smtClean="0"/>
              <a:t>Various parts of DML commands</a:t>
            </a:r>
          </a:p>
          <a:p>
            <a:pPr marL="1016000" lvl="1" indent="-457200">
              <a:lnSpc>
                <a:spcPct val="150000"/>
              </a:lnSpc>
              <a:spcBef>
                <a:spcPts val="0"/>
              </a:spcBef>
              <a:buClrTx/>
              <a:buFont typeface="+mj-lt"/>
              <a:buAutoNum type="arabicPeriod"/>
            </a:pPr>
            <a:r>
              <a:rPr lang="en-IN" sz="2100" dirty="0" smtClean="0"/>
              <a:t>INSERT</a:t>
            </a:r>
          </a:p>
          <a:p>
            <a:pPr marL="1016000" lvl="1" indent="-457200">
              <a:lnSpc>
                <a:spcPct val="150000"/>
              </a:lnSpc>
              <a:spcBef>
                <a:spcPts val="0"/>
              </a:spcBef>
              <a:buClrTx/>
              <a:buFont typeface="+mj-lt"/>
              <a:buAutoNum type="arabicPeriod"/>
            </a:pPr>
            <a:r>
              <a:rPr lang="en-IN" sz="2100" dirty="0" smtClean="0"/>
              <a:t>SELECT</a:t>
            </a:r>
          </a:p>
          <a:p>
            <a:pPr marL="1016000" lvl="1" indent="-457200">
              <a:lnSpc>
                <a:spcPct val="150000"/>
              </a:lnSpc>
              <a:spcBef>
                <a:spcPts val="0"/>
              </a:spcBef>
              <a:buClrTx/>
              <a:buFont typeface="+mj-lt"/>
              <a:buAutoNum type="arabicPeriod"/>
            </a:pPr>
            <a:r>
              <a:rPr lang="en-IN" sz="2100" dirty="0" smtClean="0"/>
              <a:t>UPDATE</a:t>
            </a:r>
          </a:p>
          <a:p>
            <a:pPr marL="1016000" lvl="1" indent="-457200">
              <a:lnSpc>
                <a:spcPct val="150000"/>
              </a:lnSpc>
              <a:spcBef>
                <a:spcPts val="0"/>
              </a:spcBef>
              <a:buClrTx/>
              <a:buFont typeface="+mj-lt"/>
              <a:buAutoNum type="arabicPeriod"/>
            </a:pPr>
            <a:r>
              <a:rPr lang="en-IN" sz="2100" dirty="0" smtClean="0"/>
              <a:t>DELETE</a:t>
            </a:r>
            <a:endParaRPr lang="en-IN" sz="2100" dirty="0"/>
          </a:p>
          <a:p>
            <a:pPr marL="457200" lvl="1">
              <a:lnSpc>
                <a:spcPct val="200000"/>
              </a:lnSpc>
              <a:spcBef>
                <a:spcPts val="600"/>
              </a:spcBef>
              <a:buClrTx/>
              <a:buFont typeface="Roboto Condensed Light"/>
              <a:buChar char="▰"/>
            </a:pPr>
            <a:r>
              <a:rPr lang="en-IN" sz="2100" dirty="0"/>
              <a:t>SQL </a:t>
            </a:r>
            <a:r>
              <a:rPr lang="en-IN" sz="2100" dirty="0" smtClean="0"/>
              <a:t>Clause</a:t>
            </a:r>
          </a:p>
          <a:p>
            <a:pPr marL="101600" lvl="1" indent="0">
              <a:spcBef>
                <a:spcPts val="0"/>
              </a:spcBef>
              <a:buClrTx/>
              <a:buNone/>
            </a:pPr>
            <a:r>
              <a:rPr lang="en-IN" sz="2100" dirty="0" smtClean="0"/>
              <a:t>	WHERE</a:t>
            </a:r>
            <a:r>
              <a:rPr lang="en-IN" sz="2100" dirty="0"/>
              <a:t>, AND, OR, WITH, AS, </a:t>
            </a:r>
            <a:r>
              <a:rPr lang="en-IN" sz="2100" dirty="0" smtClean="0"/>
              <a:t>HAVING, </a:t>
            </a:r>
            <a:r>
              <a:rPr lang="en-IN" sz="2100" dirty="0"/>
              <a:t>GROUP </a:t>
            </a:r>
            <a:r>
              <a:rPr lang="en-IN" sz="2100" dirty="0" smtClean="0"/>
              <a:t>BY, ORDER BY</a:t>
            </a:r>
            <a:endParaRPr lang="en-IN" sz="2100" dirty="0"/>
          </a:p>
        </p:txBody>
      </p:sp>
      <p:grpSp>
        <p:nvGrpSpPr>
          <p:cNvPr id="25" name="Google Shape;250;p17"/>
          <p:cNvGrpSpPr/>
          <p:nvPr/>
        </p:nvGrpSpPr>
        <p:grpSpPr>
          <a:xfrm>
            <a:off x="6280382" y="2202989"/>
            <a:ext cx="1588639" cy="2118207"/>
            <a:chOff x="6643075" y="3664250"/>
            <a:chExt cx="407950" cy="407975"/>
          </a:xfrm>
        </p:grpSpPr>
        <p:sp>
          <p:nvSpPr>
            <p:cNvPr id="26" name="Google Shape;251;p17"/>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9050" cap="rnd" cmpd="sng">
              <a:solidFill>
                <a:srgbClr val="C7D3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52;p17"/>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9050" cap="rnd" cmpd="sng">
              <a:solidFill>
                <a:srgbClr val="C7D3E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253;p17"/>
          <p:cNvGrpSpPr/>
          <p:nvPr/>
        </p:nvGrpSpPr>
        <p:grpSpPr>
          <a:xfrm rot="-587363">
            <a:off x="6187152" y="4597202"/>
            <a:ext cx="653127" cy="870845"/>
            <a:chOff x="576250" y="4319400"/>
            <a:chExt cx="442075" cy="442050"/>
          </a:xfrm>
        </p:grpSpPr>
        <p:sp>
          <p:nvSpPr>
            <p:cNvPr id="29" name="Google Shape;254;p17"/>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55;p17"/>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56;p17"/>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57;p17"/>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 name="Google Shape;258;p17"/>
          <p:cNvSpPr/>
          <p:nvPr/>
        </p:nvSpPr>
        <p:spPr>
          <a:xfrm>
            <a:off x="5900624" y="2692016"/>
            <a:ext cx="248336" cy="316160"/>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59;p17"/>
          <p:cNvSpPr/>
          <p:nvPr/>
        </p:nvSpPr>
        <p:spPr>
          <a:xfrm rot="2697322">
            <a:off x="7536980" y="4310509"/>
            <a:ext cx="376961" cy="479915"/>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60;p17"/>
          <p:cNvSpPr/>
          <p:nvPr/>
        </p:nvSpPr>
        <p:spPr>
          <a:xfrm>
            <a:off x="7835192" y="4036547"/>
            <a:ext cx="150972" cy="192301"/>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61;p17"/>
          <p:cNvSpPr/>
          <p:nvPr/>
        </p:nvSpPr>
        <p:spPr>
          <a:xfrm rot="1280149">
            <a:off x="5728591" y="3645600"/>
            <a:ext cx="150975" cy="19227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6"/>
          <p:cNvSpPr txBox="1">
            <a:spLocks noGrp="1"/>
          </p:cNvSpPr>
          <p:nvPr>
            <p:ph type="ctrTitle"/>
          </p:nvPr>
        </p:nvSpPr>
        <p:spPr>
          <a:xfrm>
            <a:off x="463524" y="3828197"/>
            <a:ext cx="5044580" cy="1546400"/>
          </a:xfrm>
          <a:prstGeom prst="rect">
            <a:avLst/>
          </a:prstGeom>
        </p:spPr>
        <p:txBody>
          <a:bodyPr spcFirstLastPara="1" wrap="square" lIns="91425" tIns="91425" rIns="91425" bIns="91425" anchor="b" anchorCtr="0">
            <a:noAutofit/>
          </a:bodyPr>
          <a:lstStyle/>
          <a:p>
            <a:pPr lvl="0"/>
            <a:r>
              <a:rPr lang="en-IN" dirty="0"/>
              <a:t>What is DML?</a:t>
            </a:r>
          </a:p>
        </p:txBody>
      </p:sp>
      <p:sp>
        <p:nvSpPr>
          <p:cNvPr id="558" name="Google Shape;558;p36"/>
          <p:cNvSpPr txBox="1"/>
          <p:nvPr/>
        </p:nvSpPr>
        <p:spPr>
          <a:xfrm>
            <a:off x="463525" y="0"/>
            <a:ext cx="2181600" cy="418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1</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29416245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523433"/>
            <a:ext cx="5492400" cy="1021600"/>
          </a:xfrm>
          <a:prstGeom prst="rect">
            <a:avLst/>
          </a:prstGeom>
        </p:spPr>
        <p:txBody>
          <a:bodyPr spcFirstLastPara="1" wrap="square" lIns="91425" tIns="91425" rIns="91425" bIns="91425" anchor="ctr" anchorCtr="0">
            <a:noAutofit/>
          </a:bodyPr>
          <a:lstStyle/>
          <a:p>
            <a:pPr lvl="0"/>
            <a:r>
              <a:rPr lang="en-IN" sz="2400" dirty="0"/>
              <a:t>What is DML?</a:t>
            </a:r>
          </a:p>
        </p:txBody>
      </p:sp>
      <p:sp>
        <p:nvSpPr>
          <p:cNvPr id="237" name="Google Shape;237;p16"/>
          <p:cNvSpPr txBox="1">
            <a:spLocks noGrp="1"/>
          </p:cNvSpPr>
          <p:nvPr>
            <p:ph type="body" idx="1"/>
          </p:nvPr>
        </p:nvSpPr>
        <p:spPr>
          <a:xfrm>
            <a:off x="814274" y="2132856"/>
            <a:ext cx="7790173" cy="3830944"/>
          </a:xfrm>
          <a:prstGeom prst="rect">
            <a:avLst/>
          </a:prstGeom>
        </p:spPr>
        <p:txBody>
          <a:bodyPr spcFirstLastPara="1" wrap="square" lIns="91425" tIns="91425" rIns="91425" bIns="91425" anchor="ctr" anchorCtr="0">
            <a:noAutofit/>
          </a:bodyPr>
          <a:lstStyle/>
          <a:p>
            <a:pPr>
              <a:lnSpc>
                <a:spcPct val="150000"/>
              </a:lnSpc>
              <a:spcBef>
                <a:spcPts val="0"/>
              </a:spcBef>
              <a:spcAft>
                <a:spcPts val="1800"/>
              </a:spcAft>
            </a:pPr>
            <a:r>
              <a:rPr lang="en-IN" sz="2000" dirty="0"/>
              <a:t>Data Manipulation Language (DML) is a subset of SQL (Structured Query Language) that allows users to manipulate and modify data within a </a:t>
            </a:r>
            <a:r>
              <a:rPr lang="en-IN" sz="2000" dirty="0" smtClean="0"/>
              <a:t>database.</a:t>
            </a:r>
          </a:p>
          <a:p>
            <a:pPr>
              <a:lnSpc>
                <a:spcPct val="150000"/>
              </a:lnSpc>
              <a:spcBef>
                <a:spcPts val="0"/>
              </a:spcBef>
              <a:spcAft>
                <a:spcPts val="1800"/>
              </a:spcAft>
            </a:pPr>
            <a:r>
              <a:rPr lang="en-IN" sz="2000" dirty="0" smtClean="0"/>
              <a:t>It </a:t>
            </a:r>
            <a:r>
              <a:rPr lang="en-IN" sz="2000" dirty="0"/>
              <a:t>comprises a set of commands used to retrieve, insert, update, and delete data in database </a:t>
            </a:r>
            <a:r>
              <a:rPr lang="en-IN" sz="2000" dirty="0" smtClean="0"/>
              <a:t>tables.</a:t>
            </a:r>
          </a:p>
          <a:p>
            <a:pPr>
              <a:lnSpc>
                <a:spcPct val="150000"/>
              </a:lnSpc>
              <a:spcBef>
                <a:spcPts val="0"/>
              </a:spcBef>
              <a:spcAft>
                <a:spcPts val="1800"/>
              </a:spcAft>
            </a:pPr>
            <a:r>
              <a:rPr lang="en-IN" sz="2000" dirty="0" smtClean="0"/>
              <a:t>The </a:t>
            </a:r>
            <a:r>
              <a:rPr lang="en-IN" sz="2000" dirty="0"/>
              <a:t>primary purpose of DML is to interact with the data stored in the database.</a:t>
            </a:r>
            <a:endParaRPr sz="2000" dirty="0"/>
          </a:p>
        </p:txBody>
      </p:sp>
      <p:sp>
        <p:nvSpPr>
          <p:cNvPr id="238" name="Google Shape;238;p16"/>
          <p:cNvSpPr txBox="1">
            <a:spLocks noGrp="1"/>
          </p:cNvSpPr>
          <p:nvPr>
            <p:ph type="sldNum" idx="12"/>
          </p:nvPr>
        </p:nvSpPr>
        <p:spPr>
          <a:xfrm>
            <a:off x="7618000" y="6182000"/>
            <a:ext cx="1487400" cy="42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grpSp>
        <p:nvGrpSpPr>
          <p:cNvPr id="239" name="Google Shape;239;p16"/>
          <p:cNvGrpSpPr/>
          <p:nvPr/>
        </p:nvGrpSpPr>
        <p:grpSpPr>
          <a:xfrm>
            <a:off x="282217" y="787891"/>
            <a:ext cx="369505" cy="492673"/>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6"/>
          <p:cNvSpPr txBox="1">
            <a:spLocks noGrp="1"/>
          </p:cNvSpPr>
          <p:nvPr>
            <p:ph type="ctrTitle"/>
          </p:nvPr>
        </p:nvSpPr>
        <p:spPr>
          <a:xfrm>
            <a:off x="463524" y="3828197"/>
            <a:ext cx="5044580" cy="1546400"/>
          </a:xfrm>
          <a:prstGeom prst="rect">
            <a:avLst/>
          </a:prstGeom>
        </p:spPr>
        <p:txBody>
          <a:bodyPr spcFirstLastPara="1" wrap="square" lIns="91425" tIns="91425" rIns="91425" bIns="91425" anchor="b" anchorCtr="0">
            <a:noAutofit/>
          </a:bodyPr>
          <a:lstStyle/>
          <a:p>
            <a:pPr lvl="0"/>
            <a:r>
              <a:rPr lang="en-IN" dirty="0" smtClean="0"/>
              <a:t>DML Commands</a:t>
            </a:r>
            <a:endParaRPr lang="en-IN" dirty="0"/>
          </a:p>
        </p:txBody>
      </p:sp>
      <p:sp>
        <p:nvSpPr>
          <p:cNvPr id="558" name="Google Shape;558;p36"/>
          <p:cNvSpPr txBox="1"/>
          <p:nvPr/>
        </p:nvSpPr>
        <p:spPr>
          <a:xfrm>
            <a:off x="463525" y="0"/>
            <a:ext cx="2181600" cy="418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2</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23785698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1. INSERT - Syntax</a:t>
            </a:r>
            <a:endParaRPr lang="en-IN" sz="2400" dirty="0">
              <a:solidFill>
                <a:srgbClr val="FFFF00"/>
              </a:solidFill>
            </a:endParaRPr>
          </a:p>
        </p:txBody>
      </p:sp>
      <p:sp>
        <p:nvSpPr>
          <p:cNvPr id="3" name="Text Placeholder 2"/>
          <p:cNvSpPr>
            <a:spLocks noGrp="1"/>
          </p:cNvSpPr>
          <p:nvPr>
            <p:ph type="body" idx="1"/>
          </p:nvPr>
        </p:nvSpPr>
        <p:spPr>
          <a:xfrm>
            <a:off x="814274" y="1769800"/>
            <a:ext cx="8150213" cy="4194000"/>
          </a:xfrm>
        </p:spPr>
        <p:txBody>
          <a:bodyPr/>
          <a:lstStyle/>
          <a:p>
            <a:pPr>
              <a:lnSpc>
                <a:spcPct val="150000"/>
              </a:lnSpc>
              <a:spcBef>
                <a:spcPts val="0"/>
              </a:spcBef>
              <a:spcAft>
                <a:spcPts val="600"/>
              </a:spcAft>
            </a:pPr>
            <a:r>
              <a:rPr lang="en-IN" sz="2000" b="1" dirty="0" smtClean="0"/>
              <a:t>INSERT </a:t>
            </a:r>
            <a:r>
              <a:rPr lang="en-IN" sz="2000" b="1" dirty="0"/>
              <a:t>INTO </a:t>
            </a:r>
            <a:r>
              <a:rPr lang="en-IN" sz="2000" b="1" dirty="0" smtClean="0"/>
              <a:t>TABLE</a:t>
            </a:r>
            <a:r>
              <a:rPr lang="en-IN" sz="2000" b="1" dirty="0" smtClean="0">
                <a:latin typeface="Raavi"/>
                <a:cs typeface="Raavi"/>
              </a:rPr>
              <a:t>_</a:t>
            </a:r>
            <a:r>
              <a:rPr lang="en-IN" sz="2000" b="1" dirty="0" smtClean="0"/>
              <a:t>NAME</a:t>
            </a:r>
            <a:r>
              <a:rPr lang="en-IN" sz="2000" dirty="0" smtClean="0"/>
              <a:t> </a:t>
            </a:r>
            <a:r>
              <a:rPr lang="en-IN" sz="2000" dirty="0"/>
              <a:t>( </a:t>
            </a:r>
            <a:r>
              <a:rPr lang="en-IN" sz="2000" dirty="0" smtClean="0"/>
              <a:t>column</a:t>
            </a:r>
            <a:r>
              <a:rPr lang="en-IN" sz="2000" dirty="0">
                <a:latin typeface="Raavi"/>
                <a:cs typeface="Raavi"/>
              </a:rPr>
              <a:t>_</a:t>
            </a:r>
            <a:r>
              <a:rPr lang="en-IN" sz="2000" dirty="0" smtClean="0"/>
              <a:t>Name1 </a:t>
            </a:r>
            <a:r>
              <a:rPr lang="en-IN" sz="2000" dirty="0"/>
              <a:t>, </a:t>
            </a:r>
            <a:r>
              <a:rPr lang="en-IN" sz="2000" dirty="0" smtClean="0"/>
              <a:t>column</a:t>
            </a:r>
            <a:r>
              <a:rPr lang="en-IN" sz="2000" dirty="0">
                <a:latin typeface="Raavi"/>
                <a:cs typeface="Raavi"/>
              </a:rPr>
              <a:t>_</a:t>
            </a:r>
            <a:r>
              <a:rPr lang="en-IN" sz="2000" dirty="0" smtClean="0"/>
              <a:t>Name2 </a:t>
            </a:r>
            <a:r>
              <a:rPr lang="en-IN" sz="2000" dirty="0"/>
              <a:t>, </a:t>
            </a:r>
            <a:r>
              <a:rPr lang="en-IN" sz="2000" dirty="0" smtClean="0"/>
              <a:t>column</a:t>
            </a:r>
            <a:r>
              <a:rPr lang="en-IN" sz="2000" dirty="0">
                <a:latin typeface="Raavi"/>
                <a:cs typeface="Raavi"/>
              </a:rPr>
              <a:t>_</a:t>
            </a:r>
            <a:r>
              <a:rPr lang="en-IN" sz="2000" dirty="0" smtClean="0"/>
              <a:t>Name3 </a:t>
            </a:r>
            <a:r>
              <a:rPr lang="en-IN" sz="2000" dirty="0"/>
              <a:t>, .... </a:t>
            </a:r>
            <a:r>
              <a:rPr lang="en-IN" sz="2000" dirty="0" err="1" smtClean="0"/>
              <a:t>column</a:t>
            </a:r>
            <a:r>
              <a:rPr lang="en-IN" sz="2000" dirty="0" err="1">
                <a:latin typeface="Raavi"/>
                <a:cs typeface="Raavi"/>
              </a:rPr>
              <a:t>_</a:t>
            </a:r>
            <a:r>
              <a:rPr lang="en-IN" sz="2000" dirty="0" err="1" smtClean="0"/>
              <a:t>NameN</a:t>
            </a:r>
            <a:r>
              <a:rPr lang="en-IN" sz="2000" dirty="0" smtClean="0"/>
              <a:t> </a:t>
            </a:r>
            <a:r>
              <a:rPr lang="en-IN" sz="2000" dirty="0"/>
              <a:t>) </a:t>
            </a:r>
            <a:endParaRPr lang="en-IN" sz="2000" dirty="0" smtClean="0"/>
          </a:p>
          <a:p>
            <a:pPr marL="76200" indent="0">
              <a:lnSpc>
                <a:spcPct val="150000"/>
              </a:lnSpc>
              <a:spcBef>
                <a:spcPts val="0"/>
              </a:spcBef>
              <a:spcAft>
                <a:spcPts val="600"/>
              </a:spcAft>
              <a:buNone/>
            </a:pPr>
            <a:r>
              <a:rPr lang="en-IN" sz="2000" dirty="0" smtClean="0"/>
              <a:t>      </a:t>
            </a:r>
            <a:r>
              <a:rPr lang="en-IN" sz="2000" b="1" dirty="0" smtClean="0"/>
              <a:t>VALUES</a:t>
            </a:r>
            <a:r>
              <a:rPr lang="en-IN" sz="2000" dirty="0" smtClean="0"/>
              <a:t> </a:t>
            </a:r>
            <a:r>
              <a:rPr lang="en-IN" sz="2000" dirty="0"/>
              <a:t>(</a:t>
            </a:r>
            <a:r>
              <a:rPr lang="en-IN" sz="2000" dirty="0" smtClean="0"/>
              <a:t>value</a:t>
            </a:r>
            <a:r>
              <a:rPr lang="en-IN" sz="2000" dirty="0">
                <a:latin typeface="Raavi"/>
                <a:cs typeface="Raavi"/>
              </a:rPr>
              <a:t>_</a:t>
            </a:r>
            <a:r>
              <a:rPr lang="en-IN" sz="2000" dirty="0" smtClean="0"/>
              <a:t>1</a:t>
            </a:r>
            <a:r>
              <a:rPr lang="en-IN" sz="2000" dirty="0"/>
              <a:t>, </a:t>
            </a:r>
            <a:r>
              <a:rPr lang="en-IN" sz="2000" dirty="0" smtClean="0"/>
              <a:t>value</a:t>
            </a:r>
            <a:r>
              <a:rPr lang="en-IN" sz="2000" dirty="0">
                <a:latin typeface="Raavi"/>
                <a:cs typeface="Raavi"/>
              </a:rPr>
              <a:t>_</a:t>
            </a:r>
            <a:r>
              <a:rPr lang="en-IN" sz="2000" dirty="0" smtClean="0"/>
              <a:t>2</a:t>
            </a:r>
            <a:r>
              <a:rPr lang="en-IN" sz="2000" dirty="0"/>
              <a:t>, </a:t>
            </a:r>
            <a:r>
              <a:rPr lang="en-IN" sz="2000" dirty="0" smtClean="0"/>
              <a:t>value</a:t>
            </a:r>
            <a:r>
              <a:rPr lang="en-IN" sz="2000" dirty="0">
                <a:latin typeface="Raavi"/>
                <a:cs typeface="Raavi"/>
              </a:rPr>
              <a:t>_</a:t>
            </a:r>
            <a:r>
              <a:rPr lang="en-IN" sz="2000" dirty="0" smtClean="0"/>
              <a:t>3</a:t>
            </a:r>
            <a:r>
              <a:rPr lang="en-IN" sz="2000" dirty="0"/>
              <a:t>, .... </a:t>
            </a:r>
            <a:r>
              <a:rPr lang="en-IN" sz="2000" dirty="0" err="1" smtClean="0"/>
              <a:t>value</a:t>
            </a:r>
            <a:r>
              <a:rPr lang="en-IN" sz="2000" dirty="0" err="1">
                <a:latin typeface="Raavi"/>
                <a:cs typeface="Raavi"/>
              </a:rPr>
              <a:t>_</a:t>
            </a:r>
            <a:r>
              <a:rPr lang="en-IN" sz="2000" dirty="0" err="1" smtClean="0"/>
              <a:t>N</a:t>
            </a:r>
            <a:r>
              <a:rPr lang="en-IN" sz="2000" dirty="0" smtClean="0"/>
              <a:t> </a:t>
            </a:r>
            <a:r>
              <a:rPr lang="en-IN" sz="2000" dirty="0"/>
              <a:t>) ;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4141044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Examples</a:t>
            </a:r>
            <a:endParaRPr lang="en-IN" sz="2400" dirty="0"/>
          </a:p>
        </p:txBody>
      </p:sp>
      <p:sp>
        <p:nvSpPr>
          <p:cNvPr id="3" name="Text Placeholder 2"/>
          <p:cNvSpPr>
            <a:spLocks noGrp="1"/>
          </p:cNvSpPr>
          <p:nvPr>
            <p:ph type="body" idx="1"/>
          </p:nvPr>
        </p:nvSpPr>
        <p:spPr>
          <a:xfrm>
            <a:off x="814274" y="1769800"/>
            <a:ext cx="8150214" cy="4194000"/>
          </a:xfrm>
        </p:spPr>
        <p:txBody>
          <a:bodyPr/>
          <a:lstStyle/>
          <a:p>
            <a:r>
              <a:rPr lang="en-IN" sz="2000" b="1" dirty="0"/>
              <a:t>INSERT INTO Customers(ID</a:t>
            </a:r>
            <a:r>
              <a:rPr lang="en-IN" sz="2000" dirty="0"/>
              <a:t>, </a:t>
            </a:r>
            <a:r>
              <a:rPr lang="en-IN" sz="2000" dirty="0" err="1"/>
              <a:t>FirstName</a:t>
            </a:r>
            <a:r>
              <a:rPr lang="en-IN" sz="2000" dirty="0"/>
              <a:t>, </a:t>
            </a:r>
            <a:r>
              <a:rPr lang="en-IN" sz="2000" dirty="0" err="1"/>
              <a:t>LastName</a:t>
            </a:r>
            <a:r>
              <a:rPr lang="en-IN" sz="2000" dirty="0"/>
              <a:t>)</a:t>
            </a:r>
          </a:p>
          <a:p>
            <a:pPr marL="76200" indent="0">
              <a:buNone/>
            </a:pPr>
            <a:r>
              <a:rPr lang="en-IN" sz="2000" dirty="0" smtClean="0"/>
              <a:t>      </a:t>
            </a:r>
            <a:r>
              <a:rPr lang="en-IN" sz="2000" b="1" dirty="0" smtClean="0"/>
              <a:t>VALUES</a:t>
            </a:r>
            <a:r>
              <a:rPr lang="en-IN" sz="2000" dirty="0" smtClean="0"/>
              <a:t> </a:t>
            </a:r>
            <a:r>
              <a:rPr lang="en-IN" sz="2000" dirty="0"/>
              <a:t>('1', 'User', 'Test</a:t>
            </a:r>
            <a:r>
              <a:rPr lang="en-IN" sz="2000" dirty="0" smtClean="0"/>
              <a:t>');</a:t>
            </a:r>
          </a:p>
          <a:p>
            <a:pPr marL="76200" indent="0">
              <a:buNone/>
            </a:pPr>
            <a:endParaRPr lang="en-IN" sz="2000" dirty="0"/>
          </a:p>
          <a:p>
            <a:r>
              <a:rPr lang="en-IN" sz="2000" b="1" dirty="0"/>
              <a:t>INSERT INTO Customers</a:t>
            </a:r>
            <a:r>
              <a:rPr lang="en-IN" sz="2000" dirty="0"/>
              <a:t>(ID, </a:t>
            </a:r>
            <a:r>
              <a:rPr lang="en-IN" sz="2000" dirty="0" err="1" smtClean="0"/>
              <a:t>FirstName</a:t>
            </a:r>
            <a:r>
              <a:rPr lang="en-IN" sz="2000" dirty="0" smtClean="0"/>
              <a:t>)</a:t>
            </a:r>
            <a:endParaRPr lang="en-IN" sz="2000" dirty="0"/>
          </a:p>
          <a:p>
            <a:pPr marL="76200" indent="0">
              <a:buNone/>
            </a:pPr>
            <a:r>
              <a:rPr lang="en-IN" sz="2000" dirty="0"/>
              <a:t>      </a:t>
            </a:r>
            <a:r>
              <a:rPr lang="en-IN" sz="2000" b="1" dirty="0"/>
              <a:t>VALUES</a:t>
            </a:r>
            <a:r>
              <a:rPr lang="en-IN" sz="2000" dirty="0"/>
              <a:t> ('1', 'User</a:t>
            </a:r>
            <a:r>
              <a:rPr lang="en-IN" sz="2000" dirty="0" smtClean="0"/>
              <a:t>');</a:t>
            </a:r>
          </a:p>
          <a:p>
            <a:pPr marL="76200" indent="0">
              <a:buNone/>
            </a:pPr>
            <a:endParaRPr lang="en-IN" sz="2000" dirty="0" smtClean="0"/>
          </a:p>
          <a:p>
            <a:r>
              <a:rPr lang="en-IN" sz="2000" b="1" dirty="0"/>
              <a:t>INSERT INTO Customers SET </a:t>
            </a:r>
            <a:r>
              <a:rPr lang="en-IN" sz="2000" dirty="0"/>
              <a:t>ID=2</a:t>
            </a:r>
            <a:r>
              <a:rPr lang="en-IN" sz="2000" b="1" dirty="0"/>
              <a:t>, </a:t>
            </a:r>
            <a:r>
              <a:rPr lang="en-IN" sz="2000" dirty="0" err="1"/>
              <a:t>FirstName</a:t>
            </a:r>
            <a:r>
              <a:rPr lang="en-IN" sz="2000" dirty="0"/>
              <a:t>='User2</a:t>
            </a:r>
            <a:r>
              <a:rPr lang="en-IN" sz="2000" dirty="0" smtClean="0"/>
              <a:t>';</a:t>
            </a:r>
          </a:p>
          <a:p>
            <a:endParaRPr lang="en-IN" sz="2000" dirty="0"/>
          </a:p>
          <a:p>
            <a:r>
              <a:rPr lang="en-IN" sz="2000" b="1" dirty="0"/>
              <a:t>INSERT </a:t>
            </a:r>
            <a:r>
              <a:rPr lang="en-IN" sz="2000" b="1" dirty="0">
                <a:solidFill>
                  <a:srgbClr val="0070C0"/>
                </a:solidFill>
              </a:rPr>
              <a:t>IGNORE</a:t>
            </a:r>
            <a:r>
              <a:rPr lang="en-IN" sz="2000" b="1" dirty="0"/>
              <a:t> INTO </a:t>
            </a:r>
            <a:r>
              <a:rPr lang="en-IN" sz="2000" b="1" dirty="0">
                <a:solidFill>
                  <a:srgbClr val="FF0000"/>
                </a:solidFill>
              </a:rPr>
              <a:t>Products</a:t>
            </a:r>
            <a:r>
              <a:rPr lang="en-IN" sz="2000" dirty="0"/>
              <a:t> </a:t>
            </a:r>
            <a:r>
              <a:rPr lang="en-IN" sz="2000" b="1" dirty="0"/>
              <a:t>VALUES</a:t>
            </a:r>
            <a:r>
              <a:rPr lang="en-IN" sz="2000" dirty="0"/>
              <a:t> ('01', '</a:t>
            </a:r>
            <a:r>
              <a:rPr lang="en-IN" sz="2000" dirty="0" err="1"/>
              <a:t>iPhoneX</a:t>
            </a:r>
            <a:r>
              <a:rPr lang="en-IN" sz="2000" dirty="0"/>
              <a:t>', 'Apple', 35000, 3</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26867194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 </a:t>
            </a:r>
            <a:r>
              <a:rPr lang="en-IN" sz="2400" dirty="0" smtClean="0"/>
              <a:t>Insert </a:t>
            </a:r>
            <a:r>
              <a:rPr lang="en-IN" sz="2400" dirty="0"/>
              <a:t>data from another table</a:t>
            </a:r>
          </a:p>
        </p:txBody>
      </p:sp>
      <p:sp>
        <p:nvSpPr>
          <p:cNvPr id="3" name="Text Placeholder 2"/>
          <p:cNvSpPr>
            <a:spLocks noGrp="1"/>
          </p:cNvSpPr>
          <p:nvPr>
            <p:ph type="body" idx="1"/>
          </p:nvPr>
        </p:nvSpPr>
        <p:spPr>
          <a:xfrm>
            <a:off x="814274" y="1769800"/>
            <a:ext cx="7286118" cy="4194000"/>
          </a:xfrm>
        </p:spPr>
        <p:txBody>
          <a:bodyPr/>
          <a:lstStyle/>
          <a:p>
            <a:r>
              <a:rPr lang="en-IN" sz="2000" b="1" dirty="0"/>
              <a:t>INSERT INTO </a:t>
            </a:r>
            <a:r>
              <a:rPr lang="en-IN" sz="2000" b="1" dirty="0" smtClean="0">
                <a:solidFill>
                  <a:srgbClr val="FF0000"/>
                </a:solidFill>
              </a:rPr>
              <a:t>Products</a:t>
            </a:r>
            <a:r>
              <a:rPr lang="en-IN" sz="2000" dirty="0" smtClean="0">
                <a:solidFill>
                  <a:srgbClr val="FF0000"/>
                </a:solidFill>
              </a:rPr>
              <a:t> </a:t>
            </a:r>
            <a:r>
              <a:rPr lang="en-IN" sz="2000" b="1" dirty="0"/>
              <a:t>SELECT * FROM </a:t>
            </a:r>
            <a:r>
              <a:rPr lang="en-IN" sz="2000" b="1" dirty="0">
                <a:solidFill>
                  <a:srgbClr val="FF0000"/>
                </a:solidFill>
              </a:rPr>
              <a:t>Smartphones</a:t>
            </a:r>
            <a:r>
              <a:rPr lang="en-IN" sz="2000" dirty="0" smtClean="0"/>
              <a:t>;</a:t>
            </a:r>
          </a:p>
          <a:p>
            <a:endParaRPr lang="en-IN" sz="2000" dirty="0"/>
          </a:p>
          <a:p>
            <a:r>
              <a:rPr lang="en-IN" sz="2000" b="1" dirty="0"/>
              <a:t>INSERT INTO </a:t>
            </a:r>
            <a:r>
              <a:rPr lang="en-IN" sz="2000" b="1" dirty="0" smtClean="0">
                <a:solidFill>
                  <a:srgbClr val="FF0000"/>
                </a:solidFill>
              </a:rPr>
              <a:t>Products</a:t>
            </a:r>
            <a:r>
              <a:rPr lang="en-IN" sz="2000" dirty="0" smtClean="0"/>
              <a:t> </a:t>
            </a:r>
            <a:r>
              <a:rPr lang="en-IN" sz="2000" b="1" dirty="0"/>
              <a:t>SELECT * FROM </a:t>
            </a:r>
            <a:r>
              <a:rPr lang="en-IN" sz="2000" b="1" dirty="0">
                <a:solidFill>
                  <a:srgbClr val="FF0000"/>
                </a:solidFill>
              </a:rPr>
              <a:t>Smartphones</a:t>
            </a:r>
            <a:r>
              <a:rPr lang="en-IN" sz="2000" dirty="0">
                <a:solidFill>
                  <a:srgbClr val="FF0000"/>
                </a:solidFill>
              </a:rPr>
              <a:t> </a:t>
            </a:r>
            <a:r>
              <a:rPr lang="en-IN" sz="2000" b="1" dirty="0"/>
              <a:t>WHERE</a:t>
            </a:r>
            <a:r>
              <a:rPr lang="en-IN" sz="2000" dirty="0"/>
              <a:t> Price=34000</a:t>
            </a:r>
            <a:r>
              <a:rPr lang="en-IN" sz="2000" dirty="0" smtClean="0"/>
              <a:t>;</a:t>
            </a:r>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extLst>
      <p:ext uri="{BB962C8B-B14F-4D97-AF65-F5344CB8AC3E}">
        <p14:creationId xmlns:p14="http://schemas.microsoft.com/office/powerpoint/2010/main" val="2553151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Inserting DATE</a:t>
            </a:r>
            <a:endParaRPr lang="en-IN" sz="2400" dirty="0"/>
          </a:p>
        </p:txBody>
      </p:sp>
      <p:sp>
        <p:nvSpPr>
          <p:cNvPr id="3" name="Text Placeholder 2"/>
          <p:cNvSpPr>
            <a:spLocks noGrp="1"/>
          </p:cNvSpPr>
          <p:nvPr>
            <p:ph type="body" idx="1"/>
          </p:nvPr>
        </p:nvSpPr>
        <p:spPr>
          <a:xfrm>
            <a:off x="814274" y="1769800"/>
            <a:ext cx="7430133" cy="4194000"/>
          </a:xfrm>
        </p:spPr>
        <p:txBody>
          <a:bodyPr/>
          <a:lstStyle/>
          <a:p>
            <a:r>
              <a:rPr lang="en-IN" sz="2000" b="1" dirty="0"/>
              <a:t>INSERT INTO </a:t>
            </a:r>
            <a:r>
              <a:rPr lang="en-IN" sz="2000" dirty="0"/>
              <a:t>tasks(title, </a:t>
            </a:r>
            <a:r>
              <a:rPr lang="en-IN" sz="2000" dirty="0" err="1" smtClean="0"/>
              <a:t>start</a:t>
            </a:r>
            <a:r>
              <a:rPr lang="en-IN" sz="2000" dirty="0" err="1" smtClean="0">
                <a:latin typeface="Raavi"/>
                <a:cs typeface="Raavi"/>
              </a:rPr>
              <a:t>_</a:t>
            </a:r>
            <a:r>
              <a:rPr lang="en-IN" sz="2000" dirty="0" err="1" smtClean="0"/>
              <a:t>date</a:t>
            </a:r>
            <a:r>
              <a:rPr lang="en-IN" sz="2000" dirty="0"/>
              <a:t>, </a:t>
            </a:r>
            <a:r>
              <a:rPr lang="en-IN" sz="2000" dirty="0" err="1" smtClean="0"/>
              <a:t>due</a:t>
            </a:r>
            <a:r>
              <a:rPr lang="en-IN" sz="2000" dirty="0" err="1" smtClean="0">
                <a:latin typeface="Raavi"/>
                <a:cs typeface="Raavi"/>
              </a:rPr>
              <a:t>_</a:t>
            </a:r>
            <a:r>
              <a:rPr lang="en-IN" sz="2000" dirty="0" err="1" smtClean="0"/>
              <a:t>date</a:t>
            </a:r>
            <a:r>
              <a:rPr lang="en-IN" sz="2000" dirty="0" smtClean="0"/>
              <a:t>)</a:t>
            </a:r>
          </a:p>
          <a:p>
            <a:pPr marL="76200" indent="0">
              <a:buNone/>
            </a:pPr>
            <a:r>
              <a:rPr lang="en-IN" sz="2000" b="1" dirty="0"/>
              <a:t>	</a:t>
            </a:r>
            <a:r>
              <a:rPr lang="en-IN" sz="2000" b="1" dirty="0" smtClean="0"/>
              <a:t>VALUES</a:t>
            </a:r>
            <a:r>
              <a:rPr lang="en-IN" sz="2000" dirty="0"/>
              <a:t>('Insert date into table','2018-01-09','2018-09-15');</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6887229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Inserting multiple rows</a:t>
            </a:r>
          </a:p>
        </p:txBody>
      </p:sp>
      <p:sp>
        <p:nvSpPr>
          <p:cNvPr id="3" name="Text Placeholder 2"/>
          <p:cNvSpPr>
            <a:spLocks noGrp="1"/>
          </p:cNvSpPr>
          <p:nvPr>
            <p:ph type="body" idx="1"/>
          </p:nvPr>
        </p:nvSpPr>
        <p:spPr>
          <a:xfrm>
            <a:off x="814274" y="1769800"/>
            <a:ext cx="6998085" cy="4194000"/>
          </a:xfrm>
        </p:spPr>
        <p:txBody>
          <a:bodyPr/>
          <a:lstStyle/>
          <a:p>
            <a:pPr>
              <a:lnSpc>
                <a:spcPct val="150000"/>
              </a:lnSpc>
            </a:pPr>
            <a:r>
              <a:rPr lang="en-IN" sz="2000" b="1" dirty="0"/>
              <a:t>INSERT INTO </a:t>
            </a:r>
            <a:r>
              <a:rPr lang="en-IN" sz="2000" dirty="0"/>
              <a:t>tasks(title, priority</a:t>
            </a:r>
            <a:r>
              <a:rPr lang="en-IN" sz="2000" dirty="0" smtClean="0"/>
              <a:t>)</a:t>
            </a:r>
          </a:p>
          <a:p>
            <a:pPr marL="76200" indent="0">
              <a:lnSpc>
                <a:spcPct val="150000"/>
              </a:lnSpc>
              <a:buNone/>
            </a:pPr>
            <a:r>
              <a:rPr lang="en-IN" sz="2000" dirty="0"/>
              <a:t>	</a:t>
            </a:r>
            <a:r>
              <a:rPr lang="en-IN" sz="2000" dirty="0" smtClean="0"/>
              <a:t>VALUES</a:t>
            </a:r>
            <a:r>
              <a:rPr lang="en-IN" sz="2000" dirty="0"/>
              <a:t>	</a:t>
            </a:r>
            <a:endParaRPr lang="en-IN" sz="2000" dirty="0" smtClean="0"/>
          </a:p>
          <a:p>
            <a:pPr marL="76200" indent="0">
              <a:lnSpc>
                <a:spcPct val="150000"/>
              </a:lnSpc>
              <a:buNone/>
            </a:pPr>
            <a:r>
              <a:rPr lang="en-IN" sz="2000" dirty="0"/>
              <a:t>	</a:t>
            </a:r>
            <a:r>
              <a:rPr lang="en-IN" sz="2000" dirty="0" smtClean="0"/>
              <a:t>	(</a:t>
            </a:r>
            <a:r>
              <a:rPr lang="en-IN" sz="2000" dirty="0"/>
              <a:t>'My first task', 1),	</a:t>
            </a:r>
            <a:endParaRPr lang="en-IN" sz="2000" dirty="0" smtClean="0"/>
          </a:p>
          <a:p>
            <a:pPr marL="76200" indent="0">
              <a:lnSpc>
                <a:spcPct val="150000"/>
              </a:lnSpc>
              <a:buNone/>
            </a:pPr>
            <a:r>
              <a:rPr lang="en-IN" sz="2000" dirty="0"/>
              <a:t>	</a:t>
            </a:r>
            <a:r>
              <a:rPr lang="en-IN" sz="2000" dirty="0" smtClean="0"/>
              <a:t>	(</a:t>
            </a:r>
            <a:r>
              <a:rPr lang="en-IN" sz="2000" dirty="0"/>
              <a:t>'It is the second task',2</a:t>
            </a:r>
            <a:r>
              <a:rPr lang="en-IN" sz="2000" dirty="0" smtClean="0"/>
              <a:t>),</a:t>
            </a:r>
          </a:p>
          <a:p>
            <a:pPr marL="76200" indent="0">
              <a:lnSpc>
                <a:spcPct val="150000"/>
              </a:lnSpc>
              <a:buNone/>
            </a:pPr>
            <a:r>
              <a:rPr lang="en-IN" sz="2000" dirty="0"/>
              <a:t>	</a:t>
            </a:r>
            <a:r>
              <a:rPr lang="en-IN" sz="2000" dirty="0" smtClean="0"/>
              <a:t>	(</a:t>
            </a:r>
            <a:r>
              <a:rPr lang="en-IN" sz="2000" dirty="0"/>
              <a:t>'This is the third task of the week',3);</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20760700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523433"/>
            <a:ext cx="5767123" cy="1021600"/>
          </a:xfrm>
        </p:spPr>
        <p:txBody>
          <a:bodyPr/>
          <a:lstStyle/>
          <a:p>
            <a:r>
              <a:rPr lang="en-IN" sz="2400" dirty="0">
                <a:solidFill>
                  <a:srgbClr val="FFFF00"/>
                </a:solidFill>
              </a:rPr>
              <a:t>2</a:t>
            </a:r>
            <a:r>
              <a:rPr lang="en-IN" sz="2400" dirty="0" smtClean="0">
                <a:solidFill>
                  <a:srgbClr val="FFFF00"/>
                </a:solidFill>
              </a:rPr>
              <a:t>. SELECT</a:t>
            </a:r>
            <a:endParaRPr lang="en-IN" sz="2400" dirty="0">
              <a:solidFill>
                <a:srgbClr val="FFFF00"/>
              </a:solidFill>
            </a:endParaRPr>
          </a:p>
        </p:txBody>
      </p:sp>
      <p:sp>
        <p:nvSpPr>
          <p:cNvPr id="3" name="Text Placeholder 2"/>
          <p:cNvSpPr>
            <a:spLocks noGrp="1"/>
          </p:cNvSpPr>
          <p:nvPr>
            <p:ph type="body" idx="1"/>
          </p:nvPr>
        </p:nvSpPr>
        <p:spPr>
          <a:xfrm>
            <a:off x="827584" y="1772816"/>
            <a:ext cx="7992888" cy="4032448"/>
          </a:xfrm>
        </p:spPr>
        <p:txBody>
          <a:bodyPr/>
          <a:lstStyle/>
          <a:p>
            <a:pPr>
              <a:lnSpc>
                <a:spcPct val="150000"/>
              </a:lnSpc>
              <a:spcBef>
                <a:spcPts val="0"/>
              </a:spcBef>
              <a:buClrTx/>
              <a:buSzPct val="100000"/>
            </a:pPr>
            <a:r>
              <a:rPr lang="en-IN" sz="2000" dirty="0"/>
              <a:t>Retrieves data from one or more tables in the </a:t>
            </a:r>
            <a:r>
              <a:rPr lang="en-IN" sz="2000" dirty="0" smtClean="0"/>
              <a:t>database.</a:t>
            </a:r>
          </a:p>
          <a:p>
            <a:pPr>
              <a:lnSpc>
                <a:spcPct val="150000"/>
              </a:lnSpc>
              <a:spcBef>
                <a:spcPts val="0"/>
              </a:spcBef>
              <a:buClrTx/>
              <a:buSzPct val="100000"/>
            </a:pPr>
            <a:endParaRPr lang="en-IN" sz="2000" dirty="0" smtClean="0"/>
          </a:p>
          <a:p>
            <a:pPr>
              <a:lnSpc>
                <a:spcPct val="150000"/>
              </a:lnSpc>
              <a:spcBef>
                <a:spcPts val="0"/>
              </a:spcBef>
              <a:buClrTx/>
              <a:buSzPct val="100000"/>
            </a:pPr>
            <a:r>
              <a:rPr lang="en-IN" sz="2000" dirty="0" smtClean="0"/>
              <a:t>It </a:t>
            </a:r>
            <a:r>
              <a:rPr lang="en-IN" sz="2000" dirty="0"/>
              <a:t>allows users to specify the columns to retrieve, apply filtering conditions, sort the results, and perform aggregations.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15937832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Syntax</a:t>
            </a:r>
            <a:endParaRPr lang="en-IN" dirty="0"/>
          </a:p>
        </p:txBody>
      </p:sp>
      <p:sp>
        <p:nvSpPr>
          <p:cNvPr id="3" name="Text Placeholder 2"/>
          <p:cNvSpPr>
            <a:spLocks noGrp="1"/>
          </p:cNvSpPr>
          <p:nvPr>
            <p:ph type="body" idx="1"/>
          </p:nvPr>
        </p:nvSpPr>
        <p:spPr>
          <a:xfrm>
            <a:off x="814274" y="1769800"/>
            <a:ext cx="8329726" cy="4194000"/>
          </a:xfrm>
        </p:spPr>
        <p:txBody>
          <a:bodyPr/>
          <a:lstStyle/>
          <a:p>
            <a:pPr>
              <a:lnSpc>
                <a:spcPct val="200000"/>
              </a:lnSpc>
            </a:pPr>
            <a:r>
              <a:rPr lang="en-IN" sz="2000" b="1" dirty="0" smtClean="0"/>
              <a:t>SELECT </a:t>
            </a:r>
            <a:r>
              <a:rPr lang="en-IN" sz="2000" b="1" dirty="0"/>
              <a:t>* FROM </a:t>
            </a:r>
            <a:r>
              <a:rPr lang="en-IN" sz="2000" dirty="0" err="1" smtClean="0"/>
              <a:t>table</a:t>
            </a:r>
            <a:r>
              <a:rPr lang="en-IN" sz="2000" dirty="0" err="1" smtClean="0">
                <a:latin typeface="Raavi"/>
                <a:cs typeface="Raavi"/>
              </a:rPr>
              <a:t>_</a:t>
            </a:r>
            <a:r>
              <a:rPr lang="en-IN" sz="2000" dirty="0" err="1" smtClean="0"/>
              <a:t>name</a:t>
            </a:r>
            <a:r>
              <a:rPr lang="en-IN" sz="2000" dirty="0" smtClean="0"/>
              <a:t>;</a:t>
            </a:r>
          </a:p>
          <a:p>
            <a:pPr>
              <a:lnSpc>
                <a:spcPct val="200000"/>
              </a:lnSpc>
            </a:pPr>
            <a:r>
              <a:rPr lang="en-IN" sz="1800" b="1" dirty="0" smtClean="0"/>
              <a:t>SELECT</a:t>
            </a:r>
            <a:r>
              <a:rPr lang="en-IN" sz="1800" dirty="0" smtClean="0"/>
              <a:t> col</a:t>
            </a:r>
            <a:r>
              <a:rPr lang="en-IN" sz="1800" dirty="0" smtClean="0">
                <a:latin typeface="Raavi"/>
                <a:cs typeface="Raavi"/>
              </a:rPr>
              <a:t>_</a:t>
            </a:r>
            <a:r>
              <a:rPr lang="en-IN" sz="1800" dirty="0" smtClean="0"/>
              <a:t>Name</a:t>
            </a:r>
            <a:r>
              <a:rPr lang="en-IN" sz="1800" dirty="0">
                <a:latin typeface="Raavi"/>
                <a:cs typeface="Raavi"/>
              </a:rPr>
              <a:t>_</a:t>
            </a:r>
            <a:r>
              <a:rPr lang="en-IN" sz="1800" dirty="0" smtClean="0"/>
              <a:t>1</a:t>
            </a:r>
            <a:r>
              <a:rPr lang="en-IN" sz="1800" dirty="0"/>
              <a:t>, </a:t>
            </a:r>
            <a:r>
              <a:rPr lang="en-IN" sz="1800" dirty="0" smtClean="0"/>
              <a:t>col</a:t>
            </a:r>
            <a:r>
              <a:rPr lang="en-IN" sz="1800" dirty="0" smtClean="0">
                <a:latin typeface="Raavi"/>
                <a:cs typeface="Raavi"/>
              </a:rPr>
              <a:t>_</a:t>
            </a:r>
            <a:r>
              <a:rPr lang="en-IN" sz="1800" dirty="0" smtClean="0"/>
              <a:t>Name</a:t>
            </a:r>
            <a:r>
              <a:rPr lang="en-IN" sz="1800" dirty="0">
                <a:latin typeface="Raavi"/>
                <a:cs typeface="Raavi"/>
              </a:rPr>
              <a:t>_</a:t>
            </a:r>
            <a:r>
              <a:rPr lang="en-IN" sz="1800" dirty="0" smtClean="0"/>
              <a:t>2</a:t>
            </a:r>
            <a:r>
              <a:rPr lang="en-IN" sz="1800" dirty="0"/>
              <a:t>, ….., </a:t>
            </a:r>
            <a:r>
              <a:rPr lang="en-IN" sz="1800" dirty="0" err="1" smtClean="0"/>
              <a:t>col</a:t>
            </a:r>
            <a:r>
              <a:rPr lang="en-IN" sz="1800" dirty="0" err="1" smtClean="0">
                <a:latin typeface="Raavi"/>
                <a:cs typeface="Raavi"/>
              </a:rPr>
              <a:t>_</a:t>
            </a:r>
            <a:r>
              <a:rPr lang="en-IN" sz="1800" dirty="0" err="1" smtClean="0"/>
              <a:t>Name</a:t>
            </a:r>
            <a:r>
              <a:rPr lang="en-IN" sz="1800" dirty="0" err="1" smtClean="0">
                <a:latin typeface="Raavi"/>
                <a:cs typeface="Raavi"/>
              </a:rPr>
              <a:t>_n</a:t>
            </a:r>
            <a:r>
              <a:rPr lang="en-IN" sz="1800" dirty="0" smtClean="0"/>
              <a:t> </a:t>
            </a:r>
            <a:r>
              <a:rPr lang="en-IN" sz="1800" b="1" dirty="0"/>
              <a:t>FROM</a:t>
            </a:r>
            <a:r>
              <a:rPr lang="en-IN" sz="1800" dirty="0"/>
              <a:t> </a:t>
            </a:r>
            <a:r>
              <a:rPr lang="en-IN" sz="1800" dirty="0" err="1" smtClean="0"/>
              <a:t>Name</a:t>
            </a:r>
            <a:r>
              <a:rPr lang="en-IN" sz="1800" dirty="0" err="1" smtClean="0">
                <a:latin typeface="Raavi"/>
                <a:cs typeface="Raavi"/>
              </a:rPr>
              <a:t>_</a:t>
            </a:r>
            <a:r>
              <a:rPr lang="en-IN" sz="1800" dirty="0" err="1" smtClean="0"/>
              <a:t>of</a:t>
            </a:r>
            <a:r>
              <a:rPr lang="en-IN" sz="1800" dirty="0" err="1">
                <a:latin typeface="Raavi"/>
                <a:cs typeface="Raavi"/>
              </a:rPr>
              <a:t>_</a:t>
            </a:r>
            <a:r>
              <a:rPr lang="en-IN" sz="1800" dirty="0" err="1" smtClean="0"/>
              <a:t>table</a:t>
            </a:r>
            <a:r>
              <a:rPr lang="en-IN" sz="1800" dirty="0" smtClean="0"/>
              <a:t>;</a:t>
            </a:r>
          </a:p>
          <a:p>
            <a:pPr>
              <a:lnSpc>
                <a:spcPct val="200000"/>
              </a:lnSpc>
            </a:pPr>
            <a:endParaRPr lang="en-IN" sz="18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42068850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Examples</a:t>
            </a:r>
            <a:endParaRPr lang="en-IN" dirty="0"/>
          </a:p>
        </p:txBody>
      </p:sp>
      <p:sp>
        <p:nvSpPr>
          <p:cNvPr id="3" name="Text Placeholder 2"/>
          <p:cNvSpPr>
            <a:spLocks noGrp="1"/>
          </p:cNvSpPr>
          <p:nvPr>
            <p:ph type="body" idx="1"/>
          </p:nvPr>
        </p:nvSpPr>
        <p:spPr>
          <a:xfrm>
            <a:off x="814274" y="1769800"/>
            <a:ext cx="6710053" cy="4194000"/>
          </a:xfrm>
        </p:spPr>
        <p:txBody>
          <a:bodyPr/>
          <a:lstStyle/>
          <a:p>
            <a:pPr>
              <a:lnSpc>
                <a:spcPct val="200000"/>
              </a:lnSpc>
            </a:pPr>
            <a:r>
              <a:rPr lang="en-IN" sz="2000" b="1" dirty="0" smtClean="0"/>
              <a:t>SELECT </a:t>
            </a:r>
            <a:r>
              <a:rPr lang="en-IN" sz="2000" b="1" dirty="0"/>
              <a:t>* FROM </a:t>
            </a:r>
            <a:r>
              <a:rPr lang="en-IN" sz="2000" dirty="0"/>
              <a:t>Student; </a:t>
            </a:r>
            <a:endParaRPr lang="en-IN" sz="2000" dirty="0" smtClean="0"/>
          </a:p>
          <a:p>
            <a:pPr>
              <a:lnSpc>
                <a:spcPct val="200000"/>
              </a:lnSpc>
            </a:pPr>
            <a:r>
              <a:rPr lang="en-IN" sz="2000" b="1" dirty="0" smtClean="0"/>
              <a:t>SELECT</a:t>
            </a:r>
            <a:r>
              <a:rPr lang="en-IN" sz="2000" dirty="0" smtClean="0"/>
              <a:t> </a:t>
            </a:r>
            <a:r>
              <a:rPr lang="en-IN" sz="2000" dirty="0" err="1" smtClean="0"/>
              <a:t>Emp</a:t>
            </a:r>
            <a:r>
              <a:rPr lang="en-IN" sz="2000" dirty="0" err="1" smtClean="0">
                <a:latin typeface="Raavi"/>
                <a:cs typeface="Raavi"/>
              </a:rPr>
              <a:t>_</a:t>
            </a:r>
            <a:r>
              <a:rPr lang="en-IN" sz="2000" dirty="0" err="1" smtClean="0"/>
              <a:t>Id</a:t>
            </a:r>
            <a:r>
              <a:rPr lang="en-IN" sz="2000" dirty="0"/>
              <a:t>, </a:t>
            </a:r>
            <a:r>
              <a:rPr lang="en-IN" sz="2000" dirty="0" err="1" smtClean="0"/>
              <a:t>Emp</a:t>
            </a:r>
            <a:r>
              <a:rPr lang="en-IN" sz="2000" dirty="0" err="1">
                <a:latin typeface="Raavi"/>
                <a:cs typeface="Raavi"/>
              </a:rPr>
              <a:t>_</a:t>
            </a:r>
            <a:r>
              <a:rPr lang="en-IN" sz="2000" dirty="0" err="1" smtClean="0"/>
              <a:t>Salary</a:t>
            </a:r>
            <a:r>
              <a:rPr lang="en-IN" sz="2000" dirty="0" smtClean="0"/>
              <a:t> </a:t>
            </a:r>
            <a:r>
              <a:rPr lang="en-IN" sz="2000" b="1" dirty="0"/>
              <a:t>FROM</a:t>
            </a:r>
            <a:r>
              <a:rPr lang="en-IN" sz="2000" dirty="0"/>
              <a:t> Employee; </a:t>
            </a:r>
            <a:endParaRPr lang="en-IN" sz="2000" dirty="0" smtClean="0"/>
          </a:p>
          <a:p>
            <a:pPr>
              <a:lnSpc>
                <a:spcPct val="200000"/>
              </a:lnSpc>
            </a:pPr>
            <a:r>
              <a:rPr lang="en-IN" sz="2000" b="1" dirty="0" smtClean="0"/>
              <a:t>SELECT </a:t>
            </a:r>
            <a:r>
              <a:rPr lang="en-IN" sz="2000" b="1" dirty="0"/>
              <a:t>* FROM </a:t>
            </a:r>
            <a:r>
              <a:rPr lang="en-IN" sz="2000" dirty="0"/>
              <a:t>Student </a:t>
            </a:r>
            <a:r>
              <a:rPr lang="en-IN" sz="2000" b="1" dirty="0"/>
              <a:t>WHERE</a:t>
            </a:r>
            <a:r>
              <a:rPr lang="en-IN" sz="2000" dirty="0"/>
              <a:t> </a:t>
            </a:r>
            <a:r>
              <a:rPr lang="en-IN" sz="2000" dirty="0" err="1" smtClean="0"/>
              <a:t>Stu</a:t>
            </a:r>
            <a:r>
              <a:rPr lang="en-IN" sz="2000" dirty="0" err="1" smtClean="0">
                <a:latin typeface="Raavi"/>
                <a:cs typeface="Raavi"/>
              </a:rPr>
              <a:t>_</a:t>
            </a:r>
            <a:r>
              <a:rPr lang="en-IN" sz="2000" dirty="0" err="1" smtClean="0"/>
              <a:t>Marks</a:t>
            </a:r>
            <a:r>
              <a:rPr lang="en-IN" sz="2000" dirty="0" smtClean="0"/>
              <a:t> </a:t>
            </a:r>
            <a:r>
              <a:rPr lang="en-IN" sz="2000" dirty="0"/>
              <a:t>= 80</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Tree>
    <p:extLst>
      <p:ext uri="{BB962C8B-B14F-4D97-AF65-F5344CB8AC3E}">
        <p14:creationId xmlns:p14="http://schemas.microsoft.com/office/powerpoint/2010/main" val="15044999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3. UPDATE</a:t>
            </a:r>
            <a:endParaRPr lang="en-IN" sz="2400" dirty="0">
              <a:solidFill>
                <a:srgbClr val="FFFF00"/>
              </a:solidFill>
            </a:endParaRPr>
          </a:p>
        </p:txBody>
      </p:sp>
      <p:sp>
        <p:nvSpPr>
          <p:cNvPr id="3" name="Text Placeholder 2"/>
          <p:cNvSpPr>
            <a:spLocks noGrp="1"/>
          </p:cNvSpPr>
          <p:nvPr>
            <p:ph type="body" idx="1"/>
          </p:nvPr>
        </p:nvSpPr>
        <p:spPr>
          <a:xfrm>
            <a:off x="814274" y="2115320"/>
            <a:ext cx="6710053" cy="4194000"/>
          </a:xfrm>
        </p:spPr>
        <p:txBody>
          <a:bodyPr/>
          <a:lstStyle/>
          <a:p>
            <a:pPr>
              <a:lnSpc>
                <a:spcPct val="150000"/>
              </a:lnSpc>
            </a:pPr>
            <a:r>
              <a:rPr lang="en-IN" sz="2000" dirty="0"/>
              <a:t>Modifies existing data within a table. It allows users to update specific columns of one or more rows based on specified conditions</a:t>
            </a:r>
            <a:r>
              <a:rPr lang="en-IN" sz="2000" dirty="0" smtClean="0"/>
              <a:t>.</a:t>
            </a:r>
          </a:p>
          <a:p>
            <a:pPr>
              <a:lnSpc>
                <a:spcPct val="150000"/>
              </a:lnSpc>
            </a:pPr>
            <a:r>
              <a:rPr lang="en-IN" sz="2000" b="1" dirty="0" smtClean="0"/>
              <a:t>Syntax</a:t>
            </a:r>
            <a:r>
              <a:rPr lang="en-IN" sz="2000" dirty="0" smtClean="0"/>
              <a:t>:</a:t>
            </a:r>
          </a:p>
          <a:p>
            <a:pPr marL="990600" lvl="2" indent="0">
              <a:lnSpc>
                <a:spcPct val="150000"/>
              </a:lnSpc>
              <a:buNone/>
            </a:pPr>
            <a:r>
              <a:rPr lang="en-IN" sz="2000" b="1" dirty="0" smtClean="0"/>
              <a:t>UPDATE</a:t>
            </a:r>
            <a:r>
              <a:rPr lang="en-IN" sz="2000" dirty="0" smtClean="0"/>
              <a:t> </a:t>
            </a:r>
            <a:r>
              <a:rPr lang="en-IN" sz="2000" dirty="0" err="1" smtClean="0"/>
              <a:t>table</a:t>
            </a:r>
            <a:r>
              <a:rPr lang="en-IN" sz="2000" dirty="0" err="1" smtClean="0">
                <a:latin typeface="Raavi"/>
                <a:cs typeface="Raavi"/>
              </a:rPr>
              <a:t>_</a:t>
            </a:r>
            <a:r>
              <a:rPr lang="en-IN" sz="2000" dirty="0" err="1" smtClean="0"/>
              <a:t>name</a:t>
            </a:r>
            <a:r>
              <a:rPr lang="en-IN" sz="2000" dirty="0" smtClean="0"/>
              <a:t>     </a:t>
            </a:r>
            <a:endParaRPr lang="en-IN" sz="2000" dirty="0"/>
          </a:p>
          <a:p>
            <a:pPr marL="990600" lvl="2" indent="0">
              <a:lnSpc>
                <a:spcPct val="150000"/>
              </a:lnSpc>
              <a:buNone/>
            </a:pPr>
            <a:r>
              <a:rPr lang="en-IN" sz="2000" dirty="0"/>
              <a:t>    SET </a:t>
            </a:r>
            <a:r>
              <a:rPr lang="en-IN" sz="2000" dirty="0" smtClean="0"/>
              <a:t>column</a:t>
            </a:r>
            <a:r>
              <a:rPr lang="en-IN" sz="2000" dirty="0">
                <a:latin typeface="Raavi"/>
                <a:cs typeface="Raavi"/>
              </a:rPr>
              <a:t>_</a:t>
            </a:r>
            <a:r>
              <a:rPr lang="en-IN" sz="2000" dirty="0" smtClean="0"/>
              <a:t>name1 </a:t>
            </a:r>
            <a:r>
              <a:rPr lang="en-IN" sz="2000" dirty="0"/>
              <a:t>= new-value1,   </a:t>
            </a:r>
          </a:p>
          <a:p>
            <a:pPr marL="990600" lvl="2" indent="0">
              <a:lnSpc>
                <a:spcPct val="150000"/>
              </a:lnSpc>
              <a:buNone/>
            </a:pPr>
            <a:r>
              <a:rPr lang="en-IN" sz="2000" dirty="0"/>
              <a:t>            </a:t>
            </a:r>
            <a:r>
              <a:rPr lang="en-IN" sz="2000" dirty="0" smtClean="0"/>
              <a:t>column</a:t>
            </a:r>
            <a:r>
              <a:rPr lang="en-IN" sz="2000" dirty="0">
                <a:latin typeface="Raavi"/>
                <a:cs typeface="Raavi"/>
              </a:rPr>
              <a:t>_</a:t>
            </a:r>
            <a:r>
              <a:rPr lang="en-IN" sz="2000" dirty="0" smtClean="0"/>
              <a:t>name2=new-value2</a:t>
            </a:r>
            <a:r>
              <a:rPr lang="en-IN" sz="2000" dirty="0"/>
              <a:t>, ...    </a:t>
            </a:r>
          </a:p>
          <a:p>
            <a:pPr marL="990600" lvl="2" indent="0">
              <a:lnSpc>
                <a:spcPct val="150000"/>
              </a:lnSpc>
              <a:buNone/>
            </a:pPr>
            <a:r>
              <a:rPr lang="en-IN" sz="2000" dirty="0"/>
              <a:t>    [</a:t>
            </a:r>
            <a:r>
              <a:rPr lang="en-IN" sz="2000" b="1" dirty="0"/>
              <a:t>WHERE</a:t>
            </a:r>
            <a:r>
              <a:rPr lang="en-IN" sz="2000" dirty="0"/>
              <a:t> Clause</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10863767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Examples</a:t>
            </a:r>
            <a:endParaRPr lang="en-IN" sz="2400" dirty="0"/>
          </a:p>
        </p:txBody>
      </p:sp>
      <p:sp>
        <p:nvSpPr>
          <p:cNvPr id="3" name="Text Placeholder 2"/>
          <p:cNvSpPr>
            <a:spLocks noGrp="1"/>
          </p:cNvSpPr>
          <p:nvPr>
            <p:ph type="body" idx="1"/>
          </p:nvPr>
        </p:nvSpPr>
        <p:spPr>
          <a:xfrm>
            <a:off x="814274" y="1769800"/>
            <a:ext cx="7862182" cy="4194000"/>
          </a:xfrm>
        </p:spPr>
        <p:txBody>
          <a:bodyPr/>
          <a:lstStyle/>
          <a:p>
            <a:pPr>
              <a:lnSpc>
                <a:spcPct val="200000"/>
              </a:lnSpc>
            </a:pPr>
            <a:r>
              <a:rPr lang="en-IN" sz="2000" b="1" dirty="0" smtClean="0"/>
              <a:t>UPDATE</a:t>
            </a:r>
            <a:r>
              <a:rPr lang="en-IN" sz="2000" dirty="0" smtClean="0"/>
              <a:t> </a:t>
            </a:r>
            <a:r>
              <a:rPr lang="en-IN" sz="2000" dirty="0"/>
              <a:t>Product </a:t>
            </a:r>
            <a:r>
              <a:rPr lang="en-IN" sz="2000" b="1" dirty="0"/>
              <a:t>SET</a:t>
            </a:r>
            <a:r>
              <a:rPr lang="en-IN" sz="2000" dirty="0"/>
              <a:t> </a:t>
            </a:r>
            <a:r>
              <a:rPr lang="en-IN" sz="2000" dirty="0" err="1" smtClean="0"/>
              <a:t>Product</a:t>
            </a:r>
            <a:r>
              <a:rPr lang="en-IN" sz="2000" dirty="0" err="1" smtClean="0">
                <a:latin typeface="Raavi"/>
                <a:cs typeface="Raavi"/>
              </a:rPr>
              <a:t>_</a:t>
            </a:r>
            <a:r>
              <a:rPr lang="en-IN" sz="2000" dirty="0" err="1" smtClean="0"/>
              <a:t>Price</a:t>
            </a:r>
            <a:r>
              <a:rPr lang="en-IN" sz="2000" dirty="0" smtClean="0"/>
              <a:t> </a:t>
            </a:r>
            <a:r>
              <a:rPr lang="en-IN" sz="2000" dirty="0"/>
              <a:t>= 80 </a:t>
            </a:r>
            <a:r>
              <a:rPr lang="en-IN" sz="2000" b="1" dirty="0"/>
              <a:t>WHERE</a:t>
            </a:r>
            <a:r>
              <a:rPr lang="en-IN" sz="2000" dirty="0"/>
              <a:t> </a:t>
            </a:r>
            <a:r>
              <a:rPr lang="en-IN" sz="2000" dirty="0" err="1" smtClean="0"/>
              <a:t>Product</a:t>
            </a:r>
            <a:r>
              <a:rPr lang="en-IN" sz="2000" dirty="0" err="1">
                <a:latin typeface="Raavi"/>
                <a:cs typeface="Raavi"/>
              </a:rPr>
              <a:t>_</a:t>
            </a:r>
            <a:r>
              <a:rPr lang="en-IN" sz="2000" dirty="0" err="1" smtClean="0"/>
              <a:t>Id</a:t>
            </a:r>
            <a:r>
              <a:rPr lang="en-IN" sz="2000" dirty="0" smtClean="0"/>
              <a:t> </a:t>
            </a:r>
            <a:r>
              <a:rPr lang="en-IN" sz="2000" dirty="0"/>
              <a:t>= 'P102' </a:t>
            </a:r>
            <a:r>
              <a:rPr lang="en-IN" sz="2000" dirty="0" smtClean="0"/>
              <a:t>;</a:t>
            </a:r>
          </a:p>
          <a:p>
            <a:pPr>
              <a:lnSpc>
                <a:spcPct val="200000"/>
              </a:lnSpc>
            </a:pPr>
            <a:r>
              <a:rPr lang="en-IN" sz="2000" b="1" dirty="0" smtClean="0"/>
              <a:t>UPDATE</a:t>
            </a:r>
            <a:r>
              <a:rPr lang="en-IN" sz="2000" dirty="0" smtClean="0"/>
              <a:t> </a:t>
            </a:r>
            <a:r>
              <a:rPr lang="en-IN" sz="2000" dirty="0"/>
              <a:t>Student </a:t>
            </a:r>
            <a:r>
              <a:rPr lang="en-IN" sz="2000" b="1" dirty="0"/>
              <a:t>SET</a:t>
            </a:r>
            <a:r>
              <a:rPr lang="en-IN" sz="2000" dirty="0"/>
              <a:t> </a:t>
            </a:r>
            <a:r>
              <a:rPr lang="en-IN" sz="2000" dirty="0" err="1" smtClean="0"/>
              <a:t>Stu</a:t>
            </a:r>
            <a:r>
              <a:rPr lang="en-IN" sz="2000" dirty="0" err="1" smtClean="0">
                <a:latin typeface="Raavi"/>
                <a:cs typeface="Raavi"/>
              </a:rPr>
              <a:t>_</a:t>
            </a:r>
            <a:r>
              <a:rPr lang="en-IN" sz="2000" dirty="0" err="1" smtClean="0"/>
              <a:t>Marks</a:t>
            </a:r>
            <a:r>
              <a:rPr lang="en-IN" sz="2000" dirty="0" smtClean="0"/>
              <a:t> </a:t>
            </a:r>
            <a:r>
              <a:rPr lang="en-IN" sz="2000" dirty="0"/>
              <a:t>= 80, </a:t>
            </a:r>
            <a:r>
              <a:rPr lang="en-IN" sz="2000" dirty="0" err="1" smtClean="0"/>
              <a:t>Stu</a:t>
            </a:r>
            <a:r>
              <a:rPr lang="en-IN" sz="2000" dirty="0" err="1">
                <a:latin typeface="Raavi"/>
                <a:cs typeface="Raavi"/>
              </a:rPr>
              <a:t>_</a:t>
            </a:r>
            <a:r>
              <a:rPr lang="en-IN" sz="2000" dirty="0" err="1" smtClean="0"/>
              <a:t>Age</a:t>
            </a:r>
            <a:r>
              <a:rPr lang="en-IN" sz="2000" dirty="0" smtClean="0"/>
              <a:t> </a:t>
            </a:r>
            <a:r>
              <a:rPr lang="en-IN" sz="2000" dirty="0"/>
              <a:t>= 21 </a:t>
            </a:r>
            <a:r>
              <a:rPr lang="en-IN" sz="2000" b="1" dirty="0"/>
              <a:t>WHERE</a:t>
            </a:r>
            <a:r>
              <a:rPr lang="en-IN" sz="2000" dirty="0"/>
              <a:t> </a:t>
            </a:r>
            <a:r>
              <a:rPr lang="en-IN" sz="2000" dirty="0" err="1" smtClean="0"/>
              <a:t>Stu</a:t>
            </a:r>
            <a:r>
              <a:rPr lang="en-IN" sz="2000" dirty="0" err="1">
                <a:latin typeface="Raavi"/>
                <a:cs typeface="Raavi"/>
              </a:rPr>
              <a:t>_</a:t>
            </a:r>
            <a:r>
              <a:rPr lang="en-IN" sz="2000" dirty="0" err="1" smtClean="0"/>
              <a:t>Id</a:t>
            </a:r>
            <a:r>
              <a:rPr lang="en-IN" sz="2000" dirty="0" smtClean="0"/>
              <a:t> </a:t>
            </a:r>
            <a:r>
              <a:rPr lang="en-IN" sz="2000" dirty="0"/>
              <a:t>= 103 AND </a:t>
            </a:r>
            <a:r>
              <a:rPr lang="en-IN" sz="2000" dirty="0" err="1" smtClean="0"/>
              <a:t>Stu</a:t>
            </a:r>
            <a:r>
              <a:rPr lang="en-IN" sz="2000" dirty="0" err="1">
                <a:latin typeface="Raavi"/>
                <a:cs typeface="Raavi"/>
              </a:rPr>
              <a:t>_</a:t>
            </a:r>
            <a:r>
              <a:rPr lang="en-IN" sz="2000" dirty="0" err="1" smtClean="0"/>
              <a:t>Id</a:t>
            </a:r>
            <a:r>
              <a:rPr lang="en-IN" sz="2000" dirty="0" smtClean="0"/>
              <a:t> </a:t>
            </a:r>
            <a:r>
              <a:rPr lang="en-IN" sz="2000" dirty="0"/>
              <a:t>= 202; </a:t>
            </a:r>
            <a:endParaRPr lang="en-IN" sz="2000" dirty="0" smtClean="0"/>
          </a:p>
          <a:p>
            <a:pPr>
              <a:lnSpc>
                <a:spcPct val="200000"/>
              </a:lnSpc>
            </a:pP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Tree>
    <p:extLst>
      <p:ext uri="{BB962C8B-B14F-4D97-AF65-F5344CB8AC3E}">
        <p14:creationId xmlns:p14="http://schemas.microsoft.com/office/powerpoint/2010/main" val="3148546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4. DELETE </a:t>
            </a:r>
            <a:endParaRPr lang="en-IN" sz="2400" dirty="0">
              <a:solidFill>
                <a:srgbClr val="FFFF00"/>
              </a:solidFill>
            </a:endParaRPr>
          </a:p>
        </p:txBody>
      </p:sp>
      <p:sp>
        <p:nvSpPr>
          <p:cNvPr id="3" name="Text Placeholder 2"/>
          <p:cNvSpPr>
            <a:spLocks noGrp="1"/>
          </p:cNvSpPr>
          <p:nvPr>
            <p:ph type="body" idx="1"/>
          </p:nvPr>
        </p:nvSpPr>
        <p:spPr>
          <a:xfrm>
            <a:off x="814274" y="1769800"/>
            <a:ext cx="7862181" cy="4194000"/>
          </a:xfrm>
        </p:spPr>
        <p:txBody>
          <a:bodyPr/>
          <a:lstStyle/>
          <a:p>
            <a:pPr>
              <a:lnSpc>
                <a:spcPct val="200000"/>
              </a:lnSpc>
            </a:pPr>
            <a:r>
              <a:rPr lang="en-IN" sz="2000" b="1" dirty="0" smtClean="0"/>
              <a:t>DELETE </a:t>
            </a:r>
            <a:r>
              <a:rPr lang="en-IN" sz="2000" b="1" dirty="0"/>
              <a:t>FROM </a:t>
            </a:r>
            <a:r>
              <a:rPr lang="en-IN" sz="2000" dirty="0"/>
              <a:t>Product </a:t>
            </a:r>
            <a:r>
              <a:rPr lang="en-IN" sz="2000" b="1" dirty="0"/>
              <a:t>WHERE</a:t>
            </a:r>
            <a:r>
              <a:rPr lang="en-IN" sz="2000" dirty="0"/>
              <a:t> </a:t>
            </a:r>
            <a:r>
              <a:rPr lang="en-IN" sz="2000" dirty="0" err="1" smtClean="0"/>
              <a:t>Product</a:t>
            </a:r>
            <a:r>
              <a:rPr lang="en-IN" sz="2000" dirty="0" err="1" smtClean="0">
                <a:latin typeface="Raavi"/>
                <a:cs typeface="Raavi"/>
              </a:rPr>
              <a:t>_</a:t>
            </a:r>
            <a:r>
              <a:rPr lang="en-IN" sz="2000" dirty="0" err="1" smtClean="0"/>
              <a:t>Id</a:t>
            </a:r>
            <a:r>
              <a:rPr lang="en-IN" sz="2000" dirty="0" smtClean="0"/>
              <a:t> </a:t>
            </a:r>
            <a:r>
              <a:rPr lang="en-IN" sz="2000" dirty="0"/>
              <a:t>= 'P202' ; </a:t>
            </a:r>
            <a:endParaRPr lang="en-IN" sz="2000" dirty="0" smtClean="0"/>
          </a:p>
          <a:p>
            <a:pPr>
              <a:lnSpc>
                <a:spcPct val="200000"/>
              </a:lnSpc>
            </a:pPr>
            <a:r>
              <a:rPr lang="en-IN" sz="2000" b="1" dirty="0" smtClean="0"/>
              <a:t>DELETE </a:t>
            </a:r>
            <a:r>
              <a:rPr lang="en-IN" sz="2000" b="1" dirty="0"/>
              <a:t>FROM </a:t>
            </a:r>
            <a:r>
              <a:rPr lang="en-IN" sz="2000" dirty="0"/>
              <a:t>Student </a:t>
            </a:r>
            <a:r>
              <a:rPr lang="en-IN" sz="2000" b="1" dirty="0"/>
              <a:t>WHERE</a:t>
            </a:r>
            <a:r>
              <a:rPr lang="en-IN" sz="2000" dirty="0"/>
              <a:t> </a:t>
            </a:r>
            <a:r>
              <a:rPr lang="en-IN" sz="2000" dirty="0" err="1" smtClean="0"/>
              <a:t>Stu</a:t>
            </a:r>
            <a:r>
              <a:rPr lang="en-IN" sz="2000" dirty="0" err="1">
                <a:latin typeface="Raavi"/>
                <a:cs typeface="Raavi"/>
              </a:rPr>
              <a:t>_</a:t>
            </a:r>
            <a:r>
              <a:rPr lang="en-IN" sz="2000" dirty="0" err="1" smtClean="0"/>
              <a:t>Marks</a:t>
            </a:r>
            <a:r>
              <a:rPr lang="en-IN" sz="2000" dirty="0" smtClean="0"/>
              <a:t> </a:t>
            </a:r>
            <a:r>
              <a:rPr lang="en-IN" sz="2000" dirty="0"/>
              <a:t>&gt; </a:t>
            </a:r>
            <a:r>
              <a:rPr lang="en-IN" sz="2000" dirty="0" smtClean="0"/>
              <a:t>70;</a:t>
            </a:r>
          </a:p>
          <a:p>
            <a:pPr>
              <a:lnSpc>
                <a:spcPct val="200000"/>
              </a:lnSpc>
            </a:pPr>
            <a:r>
              <a:rPr lang="en-IN" sz="2000" b="1" dirty="0" smtClean="0"/>
              <a:t>DELETE</a:t>
            </a:r>
            <a:r>
              <a:rPr lang="en-IN" sz="2000" dirty="0" smtClean="0"/>
              <a:t> </a:t>
            </a:r>
            <a:r>
              <a:rPr lang="en-IN" sz="2000" dirty="0"/>
              <a:t>FROM </a:t>
            </a:r>
            <a:r>
              <a:rPr lang="en-IN" sz="2000" dirty="0" err="1" smtClean="0"/>
              <a:t>table</a:t>
            </a:r>
            <a:r>
              <a:rPr lang="en-IN" sz="2000" dirty="0" err="1" smtClean="0">
                <a:latin typeface="Raavi"/>
                <a:cs typeface="Raavi"/>
              </a:rPr>
              <a:t>_</a:t>
            </a:r>
            <a:r>
              <a:rPr lang="en-IN" sz="2000" dirty="0" err="1" smtClean="0"/>
              <a:t>name</a:t>
            </a:r>
            <a:r>
              <a:rPr lang="en-IN" sz="2000" dirty="0"/>
              <a:t>; </a:t>
            </a:r>
            <a:r>
              <a:rPr lang="en-IN" sz="2000" dirty="0" smtClean="0"/>
              <a:t> </a:t>
            </a:r>
            <a:r>
              <a:rPr lang="en-IN" sz="2000" b="1" dirty="0" smtClean="0">
                <a:solidFill>
                  <a:srgbClr val="FF0000"/>
                </a:solidFill>
              </a:rPr>
              <a:t>//To delete all data from a table</a:t>
            </a:r>
          </a:p>
          <a:p>
            <a:pPr>
              <a:lnSpc>
                <a:spcPct val="200000"/>
              </a:lnSpc>
            </a:pPr>
            <a:endParaRPr lang="en-IN" sz="2000" b="1" dirty="0">
              <a:solidFill>
                <a:srgbClr val="FF0000"/>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1652215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DELETE and TRUNCATE</a:t>
            </a:r>
          </a:p>
        </p:txBody>
      </p:sp>
      <p:sp>
        <p:nvSpPr>
          <p:cNvPr id="3" name="Text Placeholder 2"/>
          <p:cNvSpPr>
            <a:spLocks noGrp="1"/>
          </p:cNvSpPr>
          <p:nvPr>
            <p:ph type="body" idx="1"/>
          </p:nvPr>
        </p:nvSpPr>
        <p:spPr>
          <a:xfrm>
            <a:off x="814274" y="1769800"/>
            <a:ext cx="8006197" cy="4194000"/>
          </a:xfrm>
        </p:spPr>
        <p:txBody>
          <a:bodyPr/>
          <a:lstStyle/>
          <a:p>
            <a:pPr>
              <a:lnSpc>
                <a:spcPct val="150000"/>
              </a:lnSpc>
              <a:spcBef>
                <a:spcPts val="0"/>
              </a:spcBef>
              <a:spcAft>
                <a:spcPts val="1200"/>
              </a:spcAft>
            </a:pPr>
            <a:r>
              <a:rPr lang="en-IN" sz="2000" b="1" dirty="0"/>
              <a:t>DELETE</a:t>
            </a:r>
            <a:r>
              <a:rPr lang="en-IN" sz="2000" dirty="0"/>
              <a:t> </a:t>
            </a:r>
            <a:r>
              <a:rPr lang="en-IN" sz="2000" b="1" dirty="0"/>
              <a:t>statement</a:t>
            </a:r>
            <a:r>
              <a:rPr lang="en-IN" sz="2000" dirty="0"/>
              <a:t> only deletes the rows from the table based on the condition defined by WHERE clause or delete all the rows from the table when condition is not specified</a:t>
            </a:r>
            <a:r>
              <a:rPr lang="en-IN" sz="2000" dirty="0" smtClean="0"/>
              <a:t>.</a:t>
            </a:r>
          </a:p>
          <a:p>
            <a:pPr>
              <a:lnSpc>
                <a:spcPct val="150000"/>
              </a:lnSpc>
              <a:spcBef>
                <a:spcPts val="0"/>
              </a:spcBef>
              <a:spcAft>
                <a:spcPts val="1200"/>
              </a:spcAft>
            </a:pPr>
            <a:r>
              <a:rPr lang="en-IN" sz="2000" dirty="0"/>
              <a:t>But it does not free the space containing by the table</a:t>
            </a:r>
            <a:r>
              <a:rPr lang="en-IN" sz="2000" dirty="0" smtClean="0"/>
              <a:t>.</a:t>
            </a:r>
          </a:p>
          <a:p>
            <a:pPr>
              <a:lnSpc>
                <a:spcPct val="150000"/>
              </a:lnSpc>
              <a:spcBef>
                <a:spcPts val="0"/>
              </a:spcBef>
              <a:spcAft>
                <a:spcPts val="1200"/>
              </a:spcAft>
            </a:pPr>
            <a:r>
              <a:rPr lang="en-IN" sz="2000" b="1" dirty="0"/>
              <a:t>TRUNCATE</a:t>
            </a:r>
            <a:r>
              <a:rPr lang="en-IN" sz="2000" dirty="0"/>
              <a:t> </a:t>
            </a:r>
            <a:r>
              <a:rPr lang="en-IN" sz="2000" b="1" dirty="0" smtClean="0"/>
              <a:t>statement</a:t>
            </a:r>
            <a:r>
              <a:rPr lang="en-IN" sz="2000" dirty="0"/>
              <a:t> </a:t>
            </a:r>
            <a:r>
              <a:rPr lang="en-IN" sz="2000" dirty="0" smtClean="0"/>
              <a:t>: it </a:t>
            </a:r>
            <a:r>
              <a:rPr lang="en-IN" sz="2000" dirty="0"/>
              <a:t>is used to delete all the rows from the table and free the containing space.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2033712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36"/>
          <p:cNvSpPr txBox="1">
            <a:spLocks noGrp="1"/>
          </p:cNvSpPr>
          <p:nvPr>
            <p:ph type="ctrTitle"/>
          </p:nvPr>
        </p:nvSpPr>
        <p:spPr>
          <a:xfrm>
            <a:off x="463524" y="3828197"/>
            <a:ext cx="5044580" cy="1546400"/>
          </a:xfrm>
          <a:prstGeom prst="rect">
            <a:avLst/>
          </a:prstGeom>
        </p:spPr>
        <p:txBody>
          <a:bodyPr spcFirstLastPara="1" wrap="square" lIns="91425" tIns="91425" rIns="91425" bIns="91425" anchor="b" anchorCtr="0">
            <a:noAutofit/>
          </a:bodyPr>
          <a:lstStyle/>
          <a:p>
            <a:pPr lvl="0"/>
            <a:r>
              <a:rPr lang="en-IN" dirty="0"/>
              <a:t>SQL C</a:t>
            </a:r>
            <a:r>
              <a:rPr lang="en-IN" dirty="0" smtClean="0"/>
              <a:t>lause</a:t>
            </a:r>
            <a:endParaRPr lang="en-IN" dirty="0"/>
          </a:p>
        </p:txBody>
      </p:sp>
      <p:sp>
        <p:nvSpPr>
          <p:cNvPr id="558" name="Google Shape;558;p36"/>
          <p:cNvSpPr txBox="1"/>
          <p:nvPr/>
        </p:nvSpPr>
        <p:spPr>
          <a:xfrm>
            <a:off x="463525" y="0"/>
            <a:ext cx="2181600" cy="4181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smtClean="0">
                <a:solidFill>
                  <a:srgbClr val="3F5378"/>
                </a:solidFill>
                <a:latin typeface="Roboto Condensed"/>
                <a:ea typeface="Roboto Condensed"/>
                <a:cs typeface="Roboto Condensed"/>
                <a:sym typeface="Roboto Condensed"/>
              </a:rPr>
              <a:t>3</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8426681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SQL </a:t>
            </a:r>
            <a:r>
              <a:rPr lang="en-IN" sz="2400" dirty="0" smtClean="0"/>
              <a:t>Clauses</a:t>
            </a:r>
            <a:endParaRPr lang="en-IN" sz="2400" dirty="0"/>
          </a:p>
        </p:txBody>
      </p:sp>
      <p:sp>
        <p:nvSpPr>
          <p:cNvPr id="3" name="Text Placeholder 2"/>
          <p:cNvSpPr>
            <a:spLocks noGrp="1"/>
          </p:cNvSpPr>
          <p:nvPr>
            <p:ph type="body" idx="1"/>
          </p:nvPr>
        </p:nvSpPr>
        <p:spPr>
          <a:xfrm>
            <a:off x="1259631" y="1769800"/>
            <a:ext cx="5687243" cy="4194000"/>
          </a:xfrm>
        </p:spPr>
        <p:txBody>
          <a:bodyPr/>
          <a:lstStyle/>
          <a:p>
            <a:pPr marL="533400" indent="-457200">
              <a:lnSpc>
                <a:spcPct val="150000"/>
              </a:lnSpc>
              <a:buClrTx/>
              <a:buFont typeface="+mj-lt"/>
              <a:buAutoNum type="arabicPeriod"/>
            </a:pPr>
            <a:r>
              <a:rPr lang="en-IN" sz="2000" dirty="0" smtClean="0"/>
              <a:t>WHERE</a:t>
            </a:r>
          </a:p>
          <a:p>
            <a:pPr marL="533400" indent="-457200">
              <a:lnSpc>
                <a:spcPct val="150000"/>
              </a:lnSpc>
              <a:buClrTx/>
              <a:buFont typeface="+mj-lt"/>
              <a:buAutoNum type="arabicPeriod"/>
            </a:pPr>
            <a:r>
              <a:rPr lang="en-IN" sz="2000" dirty="0" smtClean="0"/>
              <a:t>AND</a:t>
            </a:r>
          </a:p>
          <a:p>
            <a:pPr marL="533400" indent="-457200">
              <a:lnSpc>
                <a:spcPct val="150000"/>
              </a:lnSpc>
              <a:buClrTx/>
              <a:buFont typeface="+mj-lt"/>
              <a:buAutoNum type="arabicPeriod"/>
            </a:pPr>
            <a:r>
              <a:rPr lang="en-IN" sz="2000" dirty="0" smtClean="0"/>
              <a:t>OR</a:t>
            </a:r>
          </a:p>
          <a:p>
            <a:pPr marL="533400" indent="-457200">
              <a:lnSpc>
                <a:spcPct val="150000"/>
              </a:lnSpc>
              <a:buClrTx/>
              <a:buFont typeface="+mj-lt"/>
              <a:buAutoNum type="arabicPeriod"/>
            </a:pPr>
            <a:r>
              <a:rPr lang="en-IN" sz="2000" dirty="0" smtClean="0"/>
              <a:t>WITH</a:t>
            </a:r>
          </a:p>
          <a:p>
            <a:pPr marL="533400" indent="-457200">
              <a:lnSpc>
                <a:spcPct val="150000"/>
              </a:lnSpc>
              <a:buClrTx/>
              <a:buFont typeface="+mj-lt"/>
              <a:buAutoNum type="arabicPeriod"/>
            </a:pPr>
            <a:r>
              <a:rPr lang="en-IN" sz="2000" dirty="0" smtClean="0"/>
              <a:t>AS</a:t>
            </a:r>
          </a:p>
          <a:p>
            <a:pPr marL="533400" indent="-457200">
              <a:lnSpc>
                <a:spcPct val="150000"/>
              </a:lnSpc>
              <a:buClrTx/>
              <a:buFont typeface="+mj-lt"/>
              <a:buAutoNum type="arabicPeriod"/>
            </a:pPr>
            <a:r>
              <a:rPr lang="en-IN" sz="2000" dirty="0" smtClean="0"/>
              <a:t>Having</a:t>
            </a:r>
          </a:p>
          <a:p>
            <a:pPr marL="533400" indent="-457200">
              <a:lnSpc>
                <a:spcPct val="150000"/>
              </a:lnSpc>
              <a:buClrTx/>
              <a:buFont typeface="+mj-lt"/>
              <a:buAutoNum type="arabicPeriod"/>
            </a:pPr>
            <a:r>
              <a:rPr lang="en-IN" sz="2000" dirty="0" smtClean="0"/>
              <a:t>GROUP BY</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2244641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1. WHERE Clause</a:t>
            </a:r>
            <a:endParaRPr lang="en-IN" sz="2400" dirty="0">
              <a:solidFill>
                <a:srgbClr val="FFFF00"/>
              </a:solidFill>
            </a:endParaRPr>
          </a:p>
        </p:txBody>
      </p:sp>
      <p:sp>
        <p:nvSpPr>
          <p:cNvPr id="3" name="Text Placeholder 2"/>
          <p:cNvSpPr>
            <a:spLocks noGrp="1"/>
          </p:cNvSpPr>
          <p:nvPr>
            <p:ph type="body" idx="1"/>
          </p:nvPr>
        </p:nvSpPr>
        <p:spPr>
          <a:xfrm>
            <a:off x="454235" y="2739447"/>
            <a:ext cx="4909853" cy="2163256"/>
          </a:xfrm>
          <a:ln>
            <a:solidFill>
              <a:srgbClr val="FF0000"/>
            </a:solidFill>
          </a:ln>
        </p:spPr>
        <p:txBody>
          <a:bodyPr anchor="t"/>
          <a:lstStyle/>
          <a:p>
            <a:pPr marL="76200" indent="0">
              <a:buNone/>
            </a:pPr>
            <a:r>
              <a:rPr lang="en-IN" sz="2000" b="1" u="sng" dirty="0" smtClean="0"/>
              <a:t>Syntax:</a:t>
            </a:r>
          </a:p>
          <a:p>
            <a:pPr marL="76200" indent="0">
              <a:buNone/>
            </a:pPr>
            <a:endParaRPr lang="en-IN" sz="1400" b="1" dirty="0"/>
          </a:p>
          <a:p>
            <a:pPr marL="533400" lvl="1" indent="0">
              <a:spcBef>
                <a:spcPts val="0"/>
              </a:spcBef>
              <a:buNone/>
            </a:pPr>
            <a:r>
              <a:rPr lang="en-IN" sz="2000" b="1" dirty="0" smtClean="0"/>
              <a:t>SELECT</a:t>
            </a:r>
            <a:r>
              <a:rPr lang="en-IN" sz="2000" dirty="0" smtClean="0"/>
              <a:t> </a:t>
            </a:r>
            <a:r>
              <a:rPr lang="en-IN" sz="2000" dirty="0"/>
              <a:t>column1, column 2, ... column n  </a:t>
            </a:r>
          </a:p>
          <a:p>
            <a:pPr marL="533400" lvl="1" indent="0">
              <a:buNone/>
            </a:pPr>
            <a:r>
              <a:rPr lang="en-IN" sz="2000" dirty="0"/>
              <a:t>    </a:t>
            </a:r>
            <a:r>
              <a:rPr lang="en-IN" sz="2000" b="1" dirty="0"/>
              <a:t>FROM</a:t>
            </a:r>
            <a:r>
              <a:rPr lang="en-IN" sz="2000" dirty="0"/>
              <a:t>    </a:t>
            </a:r>
            <a:r>
              <a:rPr lang="en-IN" sz="2000" dirty="0" err="1" smtClean="0"/>
              <a:t>table</a:t>
            </a:r>
            <a:r>
              <a:rPr lang="en-IN" sz="2000" dirty="0" err="1" smtClean="0">
                <a:latin typeface="Raavi"/>
                <a:cs typeface="Raavi"/>
              </a:rPr>
              <a:t>_</a:t>
            </a:r>
            <a:r>
              <a:rPr lang="en-IN" sz="2000" dirty="0" err="1" smtClean="0"/>
              <a:t>name</a:t>
            </a:r>
            <a:r>
              <a:rPr lang="en-IN" sz="2000" dirty="0" smtClean="0"/>
              <a:t>  </a:t>
            </a:r>
            <a:endParaRPr lang="en-IN" sz="2000" dirty="0"/>
          </a:p>
          <a:p>
            <a:pPr marL="533400" lvl="1" indent="0">
              <a:buNone/>
            </a:pPr>
            <a:r>
              <a:rPr lang="en-IN" sz="2000" dirty="0"/>
              <a:t>    </a:t>
            </a:r>
            <a:r>
              <a:rPr lang="en-IN" sz="2000" b="1" dirty="0"/>
              <a:t>WHERE</a:t>
            </a:r>
            <a:r>
              <a:rPr lang="en-IN" sz="2000" dirty="0"/>
              <a:t> [conditions]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508104" y="2348880"/>
            <a:ext cx="3435436" cy="2880320"/>
          </a:xfrm>
          <a:prstGeom prst="rect">
            <a:avLst/>
          </a:prstGeom>
          <a:noFill/>
          <a:ln w="952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7581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2. AND &amp; OR</a:t>
            </a:r>
            <a:endParaRPr lang="en-IN" sz="2400" dirty="0">
              <a:solidFill>
                <a:srgbClr val="FFFF00"/>
              </a:solidFill>
            </a:endParaRPr>
          </a:p>
        </p:txBody>
      </p:sp>
      <p:sp>
        <p:nvSpPr>
          <p:cNvPr id="3" name="Text Placeholder 2"/>
          <p:cNvSpPr>
            <a:spLocks noGrp="1"/>
          </p:cNvSpPr>
          <p:nvPr>
            <p:ph type="body" idx="1"/>
          </p:nvPr>
        </p:nvSpPr>
        <p:spPr>
          <a:xfrm>
            <a:off x="814274" y="1769800"/>
            <a:ext cx="8078206" cy="4194000"/>
          </a:xfrm>
        </p:spPr>
        <p:txBody>
          <a:bodyPr anchor="ctr"/>
          <a:lstStyle/>
          <a:p>
            <a:pPr>
              <a:lnSpc>
                <a:spcPct val="150000"/>
              </a:lnSpc>
            </a:pPr>
            <a:r>
              <a:rPr lang="en-IN" sz="2000" dirty="0"/>
              <a:t>The SQL </a:t>
            </a:r>
            <a:r>
              <a:rPr lang="en-IN" sz="2000" b="1" dirty="0"/>
              <a:t>AND</a:t>
            </a:r>
            <a:r>
              <a:rPr lang="en-IN" sz="2000" dirty="0"/>
              <a:t> condition is used in SQL query to create two or more conditions to be met</a:t>
            </a:r>
            <a:r>
              <a:rPr lang="en-IN" sz="2000" dirty="0" smtClean="0"/>
              <a:t>.</a:t>
            </a:r>
          </a:p>
          <a:p>
            <a:pPr>
              <a:lnSpc>
                <a:spcPct val="150000"/>
              </a:lnSpc>
            </a:pPr>
            <a:r>
              <a:rPr lang="en-IN" sz="2000" dirty="0"/>
              <a:t>The SQL OR condition is used in SQL query to create a SQL statement where records are returned when any one condition met. </a:t>
            </a:r>
          </a:p>
          <a:p>
            <a:pPr>
              <a:lnSpc>
                <a:spcPct val="150000"/>
              </a:lnSpc>
            </a:pPr>
            <a:r>
              <a:rPr lang="en-IN" sz="2000" dirty="0"/>
              <a:t>It is used in SQL SELECT, INSERT, UPDATE and </a:t>
            </a:r>
            <a:r>
              <a:rPr lang="en-IN" sz="2000" dirty="0" smtClean="0"/>
              <a:t>DELETE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Tree>
    <p:extLst>
      <p:ext uri="{BB962C8B-B14F-4D97-AF65-F5344CB8AC3E}">
        <p14:creationId xmlns:p14="http://schemas.microsoft.com/office/powerpoint/2010/main" val="1374255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Examples</a:t>
            </a:r>
            <a:endParaRPr lang="en-IN" dirty="0"/>
          </a:p>
        </p:txBody>
      </p:sp>
      <p:sp>
        <p:nvSpPr>
          <p:cNvPr id="3" name="Text Placeholder 2"/>
          <p:cNvSpPr>
            <a:spLocks noGrp="1"/>
          </p:cNvSpPr>
          <p:nvPr>
            <p:ph type="body" idx="1"/>
          </p:nvPr>
        </p:nvSpPr>
        <p:spPr>
          <a:xfrm>
            <a:off x="814274" y="1769800"/>
            <a:ext cx="7862182" cy="4194000"/>
          </a:xfrm>
        </p:spPr>
        <p:txBody>
          <a:bodyPr/>
          <a:lstStyle/>
          <a:p>
            <a:pPr>
              <a:lnSpc>
                <a:spcPct val="150000"/>
              </a:lnSpc>
              <a:spcBef>
                <a:spcPts val="0"/>
              </a:spcBef>
              <a:spcAft>
                <a:spcPts val="1200"/>
              </a:spcAft>
            </a:pPr>
            <a:r>
              <a:rPr lang="en-IN" sz="2000" b="1" dirty="0"/>
              <a:t>SELECT *FROM </a:t>
            </a:r>
            <a:r>
              <a:rPr lang="en-IN" sz="2000" dirty="0" err="1"/>
              <a:t>emp</a:t>
            </a:r>
            <a:r>
              <a:rPr lang="en-IN" sz="2000" dirty="0"/>
              <a:t> </a:t>
            </a:r>
            <a:r>
              <a:rPr lang="en-IN" sz="2000" b="1" dirty="0"/>
              <a:t>WHERE</a:t>
            </a:r>
            <a:r>
              <a:rPr lang="en-IN" sz="2000" dirty="0"/>
              <a:t> Department = "IT" </a:t>
            </a:r>
            <a:r>
              <a:rPr lang="en-IN" sz="2000" b="1" dirty="0"/>
              <a:t>AND</a:t>
            </a:r>
            <a:r>
              <a:rPr lang="en-IN" sz="2000" dirty="0"/>
              <a:t> Location = "Chennai"; </a:t>
            </a:r>
          </a:p>
          <a:p>
            <a:pPr>
              <a:lnSpc>
                <a:spcPct val="150000"/>
              </a:lnSpc>
              <a:spcBef>
                <a:spcPts val="0"/>
              </a:spcBef>
              <a:spcAft>
                <a:spcPts val="1200"/>
              </a:spcAft>
            </a:pPr>
            <a:r>
              <a:rPr lang="en-IN" sz="2000" b="1" dirty="0"/>
              <a:t>UPDATE</a:t>
            </a:r>
            <a:r>
              <a:rPr lang="en-IN" sz="2000" dirty="0"/>
              <a:t> </a:t>
            </a:r>
            <a:r>
              <a:rPr lang="en-IN" sz="2000" dirty="0" err="1"/>
              <a:t>emp</a:t>
            </a:r>
            <a:r>
              <a:rPr lang="en-IN" sz="2000" dirty="0"/>
              <a:t> </a:t>
            </a:r>
            <a:r>
              <a:rPr lang="en-IN" sz="2000" b="1" dirty="0"/>
              <a:t>SET</a:t>
            </a:r>
            <a:r>
              <a:rPr lang="en-IN" sz="2000" dirty="0"/>
              <a:t> Location = "Delhi" WHERE Department = "Marketing" </a:t>
            </a:r>
            <a:r>
              <a:rPr lang="en-IN" sz="2000" b="1" dirty="0"/>
              <a:t>AND</a:t>
            </a:r>
            <a:r>
              <a:rPr lang="en-IN" sz="2000" dirty="0"/>
              <a:t> </a:t>
            </a:r>
            <a:r>
              <a:rPr lang="en-IN" sz="2000" dirty="0" err="1"/>
              <a:t>First</a:t>
            </a:r>
            <a:r>
              <a:rPr lang="en-IN" sz="2000" dirty="0" err="1">
                <a:latin typeface="Raavi"/>
                <a:cs typeface="Raavi"/>
              </a:rPr>
              <a:t>_</a:t>
            </a:r>
            <a:r>
              <a:rPr lang="en-IN" sz="2000" dirty="0" err="1"/>
              <a:t>Name</a:t>
            </a:r>
            <a:r>
              <a:rPr lang="en-IN" sz="2000" dirty="0"/>
              <a:t> = "</a:t>
            </a:r>
            <a:r>
              <a:rPr lang="en-IN" sz="2000" dirty="0" err="1"/>
              <a:t>Suraj</a:t>
            </a:r>
            <a:r>
              <a:rPr lang="en-IN" sz="2000" dirty="0" smtClean="0"/>
              <a:t>";</a:t>
            </a:r>
          </a:p>
          <a:p>
            <a:pPr>
              <a:lnSpc>
                <a:spcPct val="150000"/>
              </a:lnSpc>
              <a:spcBef>
                <a:spcPts val="0"/>
              </a:spcBef>
              <a:spcAft>
                <a:spcPts val="1200"/>
              </a:spcAft>
            </a:pPr>
            <a:r>
              <a:rPr lang="en-IN" sz="2000" b="1" dirty="0"/>
              <a:t>SELECT *FROM </a:t>
            </a:r>
            <a:r>
              <a:rPr lang="en-IN" sz="2000" dirty="0" err="1"/>
              <a:t>emp</a:t>
            </a:r>
            <a:r>
              <a:rPr lang="en-IN" sz="2000" b="1" dirty="0"/>
              <a:t> WHERE </a:t>
            </a:r>
            <a:r>
              <a:rPr lang="en-IN" sz="2000" dirty="0"/>
              <a:t>Department = "IT" </a:t>
            </a:r>
            <a:r>
              <a:rPr lang="en-IN" sz="2000" b="1" dirty="0"/>
              <a:t>OR </a:t>
            </a:r>
            <a:r>
              <a:rPr lang="en-IN" sz="2000" dirty="0"/>
              <a:t>Location = "Chennai";</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4167942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solidFill>
                  <a:srgbClr val="FFFF00"/>
                </a:solidFill>
              </a:rPr>
              <a:t>4</a:t>
            </a:r>
            <a:r>
              <a:rPr lang="en-IN" sz="2400" dirty="0" smtClean="0">
                <a:solidFill>
                  <a:srgbClr val="FFFF00"/>
                </a:solidFill>
              </a:rPr>
              <a:t>. WITH</a:t>
            </a:r>
            <a:endParaRPr lang="en-IN" sz="2400" dirty="0">
              <a:solidFill>
                <a:srgbClr val="FFFF00"/>
              </a:solidFill>
            </a:endParaRPr>
          </a:p>
        </p:txBody>
      </p:sp>
      <p:sp>
        <p:nvSpPr>
          <p:cNvPr id="3" name="Text Placeholder 2"/>
          <p:cNvSpPr>
            <a:spLocks noGrp="1"/>
          </p:cNvSpPr>
          <p:nvPr>
            <p:ph type="body" idx="1"/>
          </p:nvPr>
        </p:nvSpPr>
        <p:spPr>
          <a:xfrm>
            <a:off x="814274" y="1769800"/>
            <a:ext cx="7358125" cy="4194000"/>
          </a:xfrm>
        </p:spPr>
        <p:txBody>
          <a:bodyPr/>
          <a:lstStyle/>
          <a:p>
            <a:pPr>
              <a:lnSpc>
                <a:spcPct val="150000"/>
              </a:lnSpc>
              <a:spcBef>
                <a:spcPts val="0"/>
              </a:spcBef>
              <a:spcAft>
                <a:spcPts val="1200"/>
              </a:spcAft>
            </a:pPr>
            <a:r>
              <a:rPr lang="en-IN" sz="2000" dirty="0"/>
              <a:t>In MySQL, every statement or query produces a temporary result or relation</a:t>
            </a:r>
            <a:r>
              <a:rPr lang="en-IN" sz="2000" dirty="0" smtClean="0"/>
              <a:t>.</a:t>
            </a:r>
          </a:p>
          <a:p>
            <a:pPr>
              <a:lnSpc>
                <a:spcPct val="150000"/>
              </a:lnSpc>
              <a:spcBef>
                <a:spcPts val="0"/>
              </a:spcBef>
              <a:spcAft>
                <a:spcPts val="1200"/>
              </a:spcAft>
            </a:pPr>
            <a:r>
              <a:rPr lang="en-IN" sz="2000" dirty="0"/>
              <a:t>A common table expression or CTE is used to name those temporary results set that exist within the execution scope of that particular statement, such as CREATE, INSERT, SELECT, UPDATE, DELETE, etc</a:t>
            </a:r>
            <a:r>
              <a:rPr lang="en-IN" sz="2000" dirty="0" smtClean="0"/>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2666765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a:t>
            </a:r>
            <a:r>
              <a:rPr lang="en-IN" dirty="0" smtClean="0"/>
              <a:t>…</a:t>
            </a:r>
            <a:endParaRPr lang="en-IN" dirty="0"/>
          </a:p>
        </p:txBody>
      </p:sp>
      <p:sp>
        <p:nvSpPr>
          <p:cNvPr id="3" name="Text Placeholder 2"/>
          <p:cNvSpPr>
            <a:spLocks noGrp="1"/>
          </p:cNvSpPr>
          <p:nvPr>
            <p:ph type="body" idx="1"/>
          </p:nvPr>
        </p:nvSpPr>
        <p:spPr>
          <a:xfrm>
            <a:off x="814274" y="1769800"/>
            <a:ext cx="7934190" cy="4194000"/>
          </a:xfrm>
        </p:spPr>
        <p:txBody>
          <a:bodyPr/>
          <a:lstStyle/>
          <a:p>
            <a:pPr>
              <a:lnSpc>
                <a:spcPct val="150000"/>
              </a:lnSpc>
            </a:pPr>
            <a:r>
              <a:rPr lang="en-IN" sz="2000" dirty="0"/>
              <a:t>Some of the key point related to CTE are:</a:t>
            </a:r>
          </a:p>
          <a:p>
            <a:pPr lvl="1">
              <a:lnSpc>
                <a:spcPct val="150000"/>
              </a:lnSpc>
            </a:pPr>
            <a:r>
              <a:rPr lang="en-IN" sz="2000" dirty="0"/>
              <a:t>It is defined by using the </a:t>
            </a:r>
            <a:r>
              <a:rPr lang="en-IN" sz="2000" b="1" dirty="0"/>
              <a:t>WITH</a:t>
            </a:r>
            <a:r>
              <a:rPr lang="en-IN" sz="2000" dirty="0"/>
              <a:t> clause.</a:t>
            </a:r>
          </a:p>
          <a:p>
            <a:pPr lvl="1">
              <a:lnSpc>
                <a:spcPct val="150000"/>
              </a:lnSpc>
            </a:pPr>
            <a:r>
              <a:rPr lang="en-IN" sz="2000" dirty="0"/>
              <a:t>The WITH clause allows us to specify more than one CTEs in a single query.</a:t>
            </a:r>
          </a:p>
          <a:p>
            <a:pPr lvl="1">
              <a:lnSpc>
                <a:spcPct val="150000"/>
              </a:lnSpc>
            </a:pPr>
            <a:r>
              <a:rPr lang="en-IN" sz="2000" dirty="0"/>
              <a:t>A CTE can reference other CTEs that are part of the same WITH clause, but those CTEs should be defined earlier.</a:t>
            </a:r>
          </a:p>
          <a:p>
            <a:pPr lvl="1">
              <a:lnSpc>
                <a:spcPct val="150000"/>
              </a:lnSpc>
            </a:pPr>
            <a:r>
              <a:rPr lang="en-IN" sz="2000" dirty="0"/>
              <a:t>The execution scope of CTE exists within the particular statement in which it is used</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extLst>
      <p:ext uri="{BB962C8B-B14F-4D97-AF65-F5344CB8AC3E}">
        <p14:creationId xmlns:p14="http://schemas.microsoft.com/office/powerpoint/2010/main" val="1982786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t>Example 1</a:t>
            </a:r>
            <a:endParaRPr lang="en-IN" sz="2400" dirty="0"/>
          </a:p>
        </p:txBody>
      </p:sp>
      <p:sp>
        <p:nvSpPr>
          <p:cNvPr id="3" name="Text Placeholder 2"/>
          <p:cNvSpPr>
            <a:spLocks noGrp="1"/>
          </p:cNvSpPr>
          <p:nvPr>
            <p:ph type="body" idx="1"/>
          </p:nvPr>
        </p:nvSpPr>
        <p:spPr>
          <a:xfrm>
            <a:off x="814274" y="1769800"/>
            <a:ext cx="8006197" cy="4194000"/>
          </a:xfrm>
        </p:spPr>
        <p:txBody>
          <a:bodyPr/>
          <a:lstStyle/>
          <a:p>
            <a:pPr marL="76200" indent="0">
              <a:lnSpc>
                <a:spcPct val="150000"/>
              </a:lnSpc>
              <a:buNone/>
            </a:pPr>
            <a:r>
              <a:rPr lang="en-IN" sz="2000" b="1" dirty="0"/>
              <a:t>WITH</a:t>
            </a:r>
            <a:r>
              <a:rPr lang="en-IN" sz="2000" dirty="0"/>
              <a:t> </a:t>
            </a:r>
            <a:r>
              <a:rPr lang="en-IN" sz="2000" dirty="0" err="1" smtClean="0"/>
              <a:t>employees</a:t>
            </a:r>
            <a:r>
              <a:rPr lang="en-IN" sz="2000" dirty="0" err="1" smtClean="0">
                <a:latin typeface="Raavi"/>
                <a:cs typeface="Raavi"/>
              </a:rPr>
              <a:t>_</a:t>
            </a:r>
            <a:r>
              <a:rPr lang="en-IN" sz="2000" dirty="0" err="1" smtClean="0"/>
              <a:t>in</a:t>
            </a:r>
            <a:r>
              <a:rPr lang="en-IN" sz="2000" dirty="0" err="1">
                <a:latin typeface="Raavi"/>
                <a:cs typeface="Raavi"/>
              </a:rPr>
              <a:t>_</a:t>
            </a:r>
            <a:r>
              <a:rPr lang="en-IN" sz="2000" dirty="0" err="1" smtClean="0"/>
              <a:t>california</a:t>
            </a:r>
            <a:r>
              <a:rPr lang="en-IN" sz="2000" dirty="0"/>
              <a:t> </a:t>
            </a:r>
            <a:r>
              <a:rPr lang="en-IN" sz="2000" b="1" dirty="0"/>
              <a:t>AS</a:t>
            </a:r>
            <a:r>
              <a:rPr lang="en-IN" sz="2000" dirty="0"/>
              <a:t> (  </a:t>
            </a:r>
          </a:p>
          <a:p>
            <a:pPr marL="76200" indent="0">
              <a:lnSpc>
                <a:spcPct val="150000"/>
              </a:lnSpc>
              <a:buNone/>
            </a:pPr>
            <a:r>
              <a:rPr lang="en-IN" sz="2000" b="1" dirty="0" smtClean="0"/>
              <a:t>                       SELECT</a:t>
            </a:r>
            <a:r>
              <a:rPr lang="en-IN" sz="2000" b="1" dirty="0"/>
              <a:t> * FROM </a:t>
            </a:r>
            <a:r>
              <a:rPr lang="en-IN" sz="2000" dirty="0"/>
              <a:t>employees </a:t>
            </a:r>
            <a:r>
              <a:rPr lang="en-IN" sz="2000" b="1" dirty="0"/>
              <a:t>WHERE</a:t>
            </a:r>
            <a:r>
              <a:rPr lang="en-IN" sz="2000" dirty="0"/>
              <a:t> city = 'California</a:t>
            </a:r>
            <a:r>
              <a:rPr lang="en-IN" sz="2000" dirty="0" smtClean="0"/>
              <a:t>')</a:t>
            </a:r>
          </a:p>
          <a:p>
            <a:pPr marL="76200" indent="0">
              <a:lnSpc>
                <a:spcPct val="150000"/>
              </a:lnSpc>
              <a:buNone/>
            </a:pPr>
            <a:endParaRPr lang="en-IN" sz="2000" dirty="0" smtClean="0"/>
          </a:p>
          <a:p>
            <a:pPr marL="76200" indent="0">
              <a:lnSpc>
                <a:spcPct val="150000"/>
              </a:lnSpc>
              <a:buNone/>
            </a:pPr>
            <a:r>
              <a:rPr lang="en-IN" sz="2000" b="1" dirty="0" smtClean="0"/>
              <a:t>SELECT</a:t>
            </a:r>
            <a:r>
              <a:rPr lang="en-IN" sz="2000" dirty="0"/>
              <a:t> </a:t>
            </a:r>
            <a:r>
              <a:rPr lang="en-IN" sz="2000" dirty="0" err="1" smtClean="0"/>
              <a:t>emp</a:t>
            </a:r>
            <a:r>
              <a:rPr lang="en-IN" sz="2000" dirty="0" err="1" smtClean="0">
                <a:latin typeface="Raavi"/>
                <a:cs typeface="Raavi"/>
              </a:rPr>
              <a:t>_</a:t>
            </a:r>
            <a:r>
              <a:rPr lang="en-IN" sz="2000" dirty="0" err="1" smtClean="0"/>
              <a:t>name</a:t>
            </a:r>
            <a:r>
              <a:rPr lang="en-IN" sz="2000" dirty="0"/>
              <a:t>, </a:t>
            </a:r>
            <a:r>
              <a:rPr lang="en-IN" sz="2000" dirty="0" err="1" smtClean="0"/>
              <a:t>emp</a:t>
            </a:r>
            <a:r>
              <a:rPr lang="en-IN" sz="2000" dirty="0" err="1">
                <a:latin typeface="Raavi"/>
                <a:cs typeface="Raavi"/>
              </a:rPr>
              <a:t>_</a:t>
            </a:r>
            <a:r>
              <a:rPr lang="en-IN" sz="2000" dirty="0" err="1" smtClean="0"/>
              <a:t>age</a:t>
            </a:r>
            <a:r>
              <a:rPr lang="en-IN" sz="2000" dirty="0"/>
              <a:t>, city </a:t>
            </a:r>
            <a:r>
              <a:rPr lang="en-IN" sz="2000" b="1" dirty="0"/>
              <a:t>FROM</a:t>
            </a:r>
            <a:r>
              <a:rPr lang="en-IN" sz="2000" dirty="0"/>
              <a:t> </a:t>
            </a:r>
            <a:r>
              <a:rPr lang="en-IN" sz="2000" dirty="0" err="1" smtClean="0"/>
              <a:t>employees</a:t>
            </a:r>
            <a:r>
              <a:rPr lang="en-IN" sz="2000" dirty="0" err="1" smtClean="0">
                <a:latin typeface="Raavi"/>
                <a:cs typeface="Raavi"/>
              </a:rPr>
              <a:t>_</a:t>
            </a:r>
            <a:r>
              <a:rPr lang="en-IN" sz="2000" dirty="0" err="1" smtClean="0"/>
              <a:t>in</a:t>
            </a:r>
            <a:r>
              <a:rPr lang="en-IN" sz="2000" dirty="0" err="1">
                <a:latin typeface="Raavi"/>
                <a:cs typeface="Raavi"/>
              </a:rPr>
              <a:t>_</a:t>
            </a:r>
            <a:r>
              <a:rPr lang="en-IN" sz="2000" dirty="0" err="1" smtClean="0"/>
              <a:t>california</a:t>
            </a:r>
            <a:r>
              <a:rPr lang="en-IN" sz="2000" dirty="0"/>
              <a:t>  </a:t>
            </a:r>
          </a:p>
          <a:p>
            <a:pPr marL="76200" indent="0">
              <a:lnSpc>
                <a:spcPct val="150000"/>
              </a:lnSpc>
              <a:buNone/>
            </a:pPr>
            <a:r>
              <a:rPr lang="en-IN" sz="2000" dirty="0"/>
              <a:t>    </a:t>
            </a:r>
            <a:r>
              <a:rPr lang="en-IN" sz="2000" b="1" dirty="0"/>
              <a:t>WHERE</a:t>
            </a:r>
            <a:r>
              <a:rPr lang="en-IN" sz="2000" dirty="0"/>
              <a:t> </a:t>
            </a:r>
            <a:r>
              <a:rPr lang="en-IN" sz="2000" dirty="0" err="1" smtClean="0"/>
              <a:t>emp</a:t>
            </a:r>
            <a:r>
              <a:rPr lang="en-IN" sz="2000" dirty="0" err="1">
                <a:latin typeface="Raavi"/>
                <a:cs typeface="Raavi"/>
              </a:rPr>
              <a:t>_</a:t>
            </a:r>
            <a:r>
              <a:rPr lang="en-IN" sz="2000" dirty="0" err="1" smtClean="0"/>
              <a:t>age</a:t>
            </a:r>
            <a:r>
              <a:rPr lang="en-IN" sz="2000" dirty="0"/>
              <a:t> &gt;= 32 </a:t>
            </a:r>
            <a:r>
              <a:rPr lang="en-IN" sz="2000" b="1" dirty="0"/>
              <a:t>ORDER BY</a:t>
            </a:r>
            <a:r>
              <a:rPr lang="en-IN" sz="2000" dirty="0"/>
              <a:t> </a:t>
            </a:r>
            <a:r>
              <a:rPr lang="en-IN" sz="2000" dirty="0" err="1" smtClean="0"/>
              <a:t>emp</a:t>
            </a:r>
            <a:r>
              <a:rPr lang="en-IN" sz="2000" dirty="0" err="1">
                <a:latin typeface="Raavi"/>
                <a:cs typeface="Raavi"/>
              </a:rPr>
              <a:t>_</a:t>
            </a:r>
            <a:r>
              <a:rPr lang="en-IN" sz="2000" dirty="0" err="1" smtClean="0"/>
              <a:t>name</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Tree>
    <p:extLst>
      <p:ext uri="{BB962C8B-B14F-4D97-AF65-F5344CB8AC3E}">
        <p14:creationId xmlns:p14="http://schemas.microsoft.com/office/powerpoint/2010/main" val="41099175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t>Example </a:t>
            </a:r>
            <a:r>
              <a:rPr lang="en-IN" sz="2400" dirty="0" smtClean="0"/>
              <a:t>2</a:t>
            </a:r>
            <a:endParaRPr lang="en-IN" sz="2400" dirty="0"/>
          </a:p>
        </p:txBody>
      </p:sp>
      <p:sp>
        <p:nvSpPr>
          <p:cNvPr id="3" name="Text Placeholder 2"/>
          <p:cNvSpPr>
            <a:spLocks noGrp="1"/>
          </p:cNvSpPr>
          <p:nvPr>
            <p:ph type="body" idx="1"/>
          </p:nvPr>
        </p:nvSpPr>
        <p:spPr>
          <a:xfrm>
            <a:off x="814274" y="1769800"/>
            <a:ext cx="7430134" cy="4194000"/>
          </a:xfrm>
        </p:spPr>
        <p:txBody>
          <a:bodyPr/>
          <a:lstStyle/>
          <a:p>
            <a:pPr marL="76200" indent="0">
              <a:lnSpc>
                <a:spcPct val="150000"/>
              </a:lnSpc>
              <a:buNone/>
            </a:pPr>
            <a:r>
              <a:rPr lang="en-IN" sz="2000" b="1" dirty="0"/>
              <a:t>WITH</a:t>
            </a:r>
            <a:r>
              <a:rPr lang="en-IN" sz="2000" dirty="0"/>
              <a:t> total_customer_2020 </a:t>
            </a:r>
            <a:r>
              <a:rPr lang="en-IN" sz="2000" b="1" dirty="0"/>
              <a:t>AS</a:t>
            </a:r>
            <a:r>
              <a:rPr lang="en-IN" sz="2000" dirty="0"/>
              <a:t> (  </a:t>
            </a:r>
          </a:p>
          <a:p>
            <a:pPr marL="76200" indent="0">
              <a:lnSpc>
                <a:spcPct val="150000"/>
              </a:lnSpc>
              <a:buNone/>
            </a:pPr>
            <a:r>
              <a:rPr lang="en-IN" sz="2000" dirty="0"/>
              <a:t>    </a:t>
            </a:r>
            <a:r>
              <a:rPr lang="en-IN" sz="2000" b="1" dirty="0"/>
              <a:t>SELECT</a:t>
            </a:r>
            <a:r>
              <a:rPr lang="en-IN" sz="2000" dirty="0"/>
              <a:t> </a:t>
            </a:r>
            <a:r>
              <a:rPr lang="en-IN" sz="2000" dirty="0" err="1" smtClean="0"/>
              <a:t>cust</a:t>
            </a:r>
            <a:r>
              <a:rPr lang="en-IN" sz="2000" dirty="0" err="1" smtClean="0">
                <a:latin typeface="Raavi"/>
                <a:cs typeface="Raavi"/>
              </a:rPr>
              <a:t>_</a:t>
            </a:r>
            <a:r>
              <a:rPr lang="en-IN" sz="2000" dirty="0" err="1" smtClean="0"/>
              <a:t>id</a:t>
            </a:r>
            <a:r>
              <a:rPr lang="en-IN" sz="2000" dirty="0"/>
              <a:t>, name, occupation </a:t>
            </a:r>
            <a:r>
              <a:rPr lang="en-IN" sz="2000" b="1" dirty="0"/>
              <a:t>FROM</a:t>
            </a:r>
            <a:r>
              <a:rPr lang="en-IN" sz="2000" dirty="0"/>
              <a:t> customer   </a:t>
            </a:r>
          </a:p>
          <a:p>
            <a:pPr marL="76200" indent="0">
              <a:lnSpc>
                <a:spcPct val="150000"/>
              </a:lnSpc>
              <a:buNone/>
            </a:pPr>
            <a:r>
              <a:rPr lang="en-IN" sz="2000" dirty="0"/>
              <a:t>   </a:t>
            </a:r>
            <a:r>
              <a:rPr lang="en-IN" sz="2000" b="1" dirty="0"/>
              <a:t> INNER JOIN</a:t>
            </a:r>
            <a:r>
              <a:rPr lang="en-IN" sz="2000" dirty="0"/>
              <a:t> orders </a:t>
            </a:r>
            <a:r>
              <a:rPr lang="en-IN" sz="2000" b="1" dirty="0"/>
              <a:t>USING</a:t>
            </a:r>
            <a:r>
              <a:rPr lang="en-IN" sz="2000" dirty="0"/>
              <a:t> (</a:t>
            </a:r>
            <a:r>
              <a:rPr lang="en-IN" sz="2000" dirty="0" err="1" smtClean="0"/>
              <a:t>cust</a:t>
            </a:r>
            <a:r>
              <a:rPr lang="en-IN" sz="2000" dirty="0" err="1">
                <a:latin typeface="Raavi"/>
                <a:cs typeface="Raavi"/>
              </a:rPr>
              <a:t>_</a:t>
            </a:r>
            <a:r>
              <a:rPr lang="en-IN" sz="2000" dirty="0" err="1" smtClean="0"/>
              <a:t>id</a:t>
            </a:r>
            <a:r>
              <a:rPr lang="en-IN" sz="2000" dirty="0"/>
              <a:t>)  </a:t>
            </a:r>
          </a:p>
          <a:p>
            <a:pPr marL="76200" indent="0">
              <a:lnSpc>
                <a:spcPct val="150000"/>
              </a:lnSpc>
              <a:buNone/>
            </a:pPr>
            <a:r>
              <a:rPr lang="en-IN" sz="2000" dirty="0"/>
              <a:t>    </a:t>
            </a:r>
            <a:r>
              <a:rPr lang="en-IN" sz="2000" b="1" dirty="0"/>
              <a:t>ORDER BY</a:t>
            </a:r>
            <a:r>
              <a:rPr lang="en-IN" sz="2000" dirty="0"/>
              <a:t> </a:t>
            </a:r>
            <a:r>
              <a:rPr lang="en-IN" sz="2000" dirty="0" smtClean="0"/>
              <a:t>age)</a:t>
            </a:r>
          </a:p>
          <a:p>
            <a:pPr marL="76200" indent="0">
              <a:lnSpc>
                <a:spcPct val="150000"/>
              </a:lnSpc>
              <a:buNone/>
            </a:pPr>
            <a:r>
              <a:rPr lang="en-IN" sz="2000" dirty="0"/>
              <a:t>  </a:t>
            </a:r>
          </a:p>
          <a:p>
            <a:pPr marL="76200" indent="0">
              <a:lnSpc>
                <a:spcPct val="150000"/>
              </a:lnSpc>
              <a:buNone/>
            </a:pPr>
            <a:r>
              <a:rPr lang="en-IN" sz="2000" b="1" dirty="0"/>
              <a:t>SELECT * FROM</a:t>
            </a:r>
            <a:r>
              <a:rPr lang="en-IN" sz="2000" dirty="0"/>
              <a:t> orders </a:t>
            </a:r>
            <a:r>
              <a:rPr lang="en-IN" sz="2000" b="1" dirty="0"/>
              <a:t>JOIN</a:t>
            </a:r>
            <a:r>
              <a:rPr lang="en-IN" sz="2000" dirty="0"/>
              <a:t> total_customer_2020 </a:t>
            </a:r>
            <a:r>
              <a:rPr lang="en-IN" sz="2000" b="1" dirty="0"/>
              <a:t>USING</a:t>
            </a:r>
            <a:r>
              <a:rPr lang="en-IN" sz="2000" dirty="0"/>
              <a:t> (</a:t>
            </a:r>
            <a:r>
              <a:rPr lang="en-IN" sz="2000" dirty="0" err="1" smtClean="0"/>
              <a:t>cust</a:t>
            </a:r>
            <a:r>
              <a:rPr lang="en-IN" sz="2000" dirty="0" err="1" smtClean="0">
                <a:latin typeface="Raavi"/>
                <a:cs typeface="Raavi"/>
              </a:rPr>
              <a:t>_</a:t>
            </a:r>
            <a:r>
              <a:rPr lang="en-IN" sz="2000" dirty="0" err="1" smtClean="0"/>
              <a:t>id</a:t>
            </a:r>
            <a:r>
              <a:rPr lang="en-IN" sz="2000" dirty="0"/>
              <a:t>);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2915841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solidFill>
                  <a:srgbClr val="FFFF00"/>
                </a:solidFill>
              </a:rPr>
              <a:t>5</a:t>
            </a:r>
            <a:r>
              <a:rPr lang="en-IN" sz="2400" dirty="0" smtClean="0">
                <a:solidFill>
                  <a:srgbClr val="FFFF00"/>
                </a:solidFill>
              </a:rPr>
              <a:t>. AS</a:t>
            </a:r>
            <a:endParaRPr lang="en-IN" sz="2400" dirty="0">
              <a:solidFill>
                <a:srgbClr val="FFFF00"/>
              </a:solidFill>
            </a:endParaRPr>
          </a:p>
        </p:txBody>
      </p:sp>
      <p:sp>
        <p:nvSpPr>
          <p:cNvPr id="3" name="Text Placeholder 2"/>
          <p:cNvSpPr>
            <a:spLocks noGrp="1"/>
          </p:cNvSpPr>
          <p:nvPr>
            <p:ph type="body" idx="1"/>
          </p:nvPr>
        </p:nvSpPr>
        <p:spPr>
          <a:xfrm>
            <a:off x="814274" y="1769800"/>
            <a:ext cx="7574149" cy="4194000"/>
          </a:xfrm>
        </p:spPr>
        <p:txBody>
          <a:bodyPr/>
          <a:lstStyle/>
          <a:p>
            <a:pPr>
              <a:lnSpc>
                <a:spcPct val="150000"/>
              </a:lnSpc>
            </a:pPr>
            <a:r>
              <a:rPr lang="en-IN" sz="2000" dirty="0"/>
              <a:t>The AS command is used to rename a column or table with an alias</a:t>
            </a:r>
            <a:r>
              <a:rPr lang="en-IN" sz="2000" dirty="0" smtClean="0"/>
              <a:t>.</a:t>
            </a:r>
          </a:p>
          <a:p>
            <a:pPr>
              <a:lnSpc>
                <a:spcPct val="150000"/>
              </a:lnSpc>
            </a:pPr>
            <a:r>
              <a:rPr lang="en-IN" sz="2000" b="1" dirty="0">
                <a:solidFill>
                  <a:srgbClr val="7030A0"/>
                </a:solidFill>
              </a:rPr>
              <a:t>SELECT</a:t>
            </a:r>
            <a:r>
              <a:rPr lang="en-IN" sz="2000" dirty="0">
                <a:solidFill>
                  <a:srgbClr val="7030A0"/>
                </a:solidFill>
              </a:rPr>
              <a:t> </a:t>
            </a:r>
            <a:r>
              <a:rPr lang="en-IN" sz="2000" dirty="0" err="1"/>
              <a:t>CustomerID</a:t>
            </a:r>
            <a:r>
              <a:rPr lang="en-IN" sz="2000" dirty="0"/>
              <a:t> </a:t>
            </a:r>
            <a:r>
              <a:rPr lang="en-IN" sz="2000" b="1" dirty="0">
                <a:solidFill>
                  <a:srgbClr val="7030A0"/>
                </a:solidFill>
              </a:rPr>
              <a:t>AS</a:t>
            </a:r>
            <a:r>
              <a:rPr lang="en-IN" sz="2000" dirty="0">
                <a:solidFill>
                  <a:srgbClr val="7030A0"/>
                </a:solidFill>
              </a:rPr>
              <a:t> </a:t>
            </a:r>
            <a:r>
              <a:rPr lang="en-IN" sz="2000" dirty="0"/>
              <a:t>ID, </a:t>
            </a:r>
            <a:r>
              <a:rPr lang="en-IN" sz="2000" dirty="0" err="1"/>
              <a:t>CustomerName</a:t>
            </a:r>
            <a:r>
              <a:rPr lang="en-IN" sz="2000" dirty="0"/>
              <a:t> AS </a:t>
            </a:r>
            <a:r>
              <a:rPr lang="en-IN" sz="2000" dirty="0" smtClean="0"/>
              <a:t>Customer </a:t>
            </a:r>
            <a:r>
              <a:rPr lang="en-IN" sz="2000" b="1" dirty="0" smtClean="0">
                <a:solidFill>
                  <a:srgbClr val="7030A0"/>
                </a:solidFill>
              </a:rPr>
              <a:t>FROM</a:t>
            </a:r>
            <a:r>
              <a:rPr lang="en-IN" sz="2000" dirty="0" smtClean="0">
                <a:solidFill>
                  <a:srgbClr val="7030A0"/>
                </a:solidFill>
              </a:rPr>
              <a:t> </a:t>
            </a:r>
            <a:r>
              <a:rPr lang="en-IN" sz="2000" dirty="0"/>
              <a:t>Customers; </a:t>
            </a:r>
            <a:endParaRPr lang="en-IN" sz="2000" dirty="0" smtClean="0"/>
          </a:p>
          <a:p>
            <a:pPr>
              <a:lnSpc>
                <a:spcPct val="150000"/>
              </a:lnSpc>
            </a:pPr>
            <a:r>
              <a:rPr lang="en-IN" sz="2000" b="1" dirty="0">
                <a:solidFill>
                  <a:srgbClr val="7030A0"/>
                </a:solidFill>
              </a:rPr>
              <a:t>SELECT</a:t>
            </a:r>
            <a:r>
              <a:rPr lang="en-IN" sz="2000" dirty="0">
                <a:solidFill>
                  <a:srgbClr val="7030A0"/>
                </a:solidFill>
              </a:rPr>
              <a:t> </a:t>
            </a:r>
            <a:r>
              <a:rPr lang="en-IN" sz="2000" dirty="0" err="1"/>
              <a:t>CustomerName</a:t>
            </a:r>
            <a:r>
              <a:rPr lang="en-IN" sz="2000" dirty="0"/>
              <a:t>, Address + ', ' + </a:t>
            </a:r>
            <a:r>
              <a:rPr lang="en-IN" sz="2000" dirty="0" err="1"/>
              <a:t>PostalCode</a:t>
            </a:r>
            <a:r>
              <a:rPr lang="en-IN" sz="2000" dirty="0"/>
              <a:t> + ' ' + City + ', ' + Country </a:t>
            </a:r>
            <a:r>
              <a:rPr lang="en-IN" sz="2000" b="1" dirty="0">
                <a:solidFill>
                  <a:srgbClr val="7030A0"/>
                </a:solidFill>
              </a:rPr>
              <a:t>AS</a:t>
            </a:r>
            <a:r>
              <a:rPr lang="en-IN" sz="2000" dirty="0">
                <a:solidFill>
                  <a:srgbClr val="7030A0"/>
                </a:solidFill>
              </a:rPr>
              <a:t> </a:t>
            </a:r>
            <a:r>
              <a:rPr lang="en-IN" sz="2000" dirty="0" smtClean="0"/>
              <a:t>Address </a:t>
            </a:r>
            <a:r>
              <a:rPr lang="en-IN" sz="2000" b="1" dirty="0" smtClean="0">
                <a:solidFill>
                  <a:srgbClr val="7030A0"/>
                </a:solidFill>
              </a:rPr>
              <a:t>FROM</a:t>
            </a:r>
            <a:r>
              <a:rPr lang="en-IN" sz="2000" dirty="0" smtClean="0">
                <a:solidFill>
                  <a:srgbClr val="7030A0"/>
                </a:solidFill>
              </a:rPr>
              <a:t> </a:t>
            </a:r>
            <a:r>
              <a:rPr lang="en-IN" sz="2000" dirty="0"/>
              <a:t>Customers</a:t>
            </a:r>
            <a:r>
              <a:rPr lang="en-IN" sz="2000" dirty="0" smtClean="0"/>
              <a:t>;</a:t>
            </a:r>
          </a:p>
          <a:p>
            <a:pPr>
              <a:lnSpc>
                <a:spcPct val="150000"/>
              </a:lnSpc>
            </a:pPr>
            <a:r>
              <a:rPr lang="en-IN" sz="2000" b="1" dirty="0">
                <a:solidFill>
                  <a:srgbClr val="7030A0"/>
                </a:solidFill>
              </a:rPr>
              <a:t>SELECT</a:t>
            </a:r>
            <a:r>
              <a:rPr lang="en-IN" sz="2000" dirty="0">
                <a:solidFill>
                  <a:srgbClr val="7030A0"/>
                </a:solidFill>
              </a:rPr>
              <a:t> </a:t>
            </a:r>
            <a:r>
              <a:rPr lang="en-IN" sz="2000" dirty="0" err="1"/>
              <a:t>CustomerName</a:t>
            </a:r>
            <a:r>
              <a:rPr lang="en-IN" sz="2000" dirty="0"/>
              <a:t>, </a:t>
            </a:r>
            <a:r>
              <a:rPr lang="en-IN" sz="2000" b="1" dirty="0">
                <a:solidFill>
                  <a:srgbClr val="7030A0"/>
                </a:solidFill>
              </a:rPr>
              <a:t>CONCAT</a:t>
            </a:r>
            <a:r>
              <a:rPr lang="en-IN" sz="2000" dirty="0"/>
              <a:t>(Address,', ',</a:t>
            </a:r>
            <a:r>
              <a:rPr lang="en-IN" sz="2000" dirty="0" err="1"/>
              <a:t>PostalCode</a:t>
            </a:r>
            <a:r>
              <a:rPr lang="en-IN" sz="2000" dirty="0"/>
              <a:t>,', ',City,', </a:t>
            </a:r>
            <a:r>
              <a:rPr lang="en-IN" sz="2000" dirty="0" smtClean="0"/>
              <a:t>‘ ,</a:t>
            </a:r>
            <a:r>
              <a:rPr lang="en-IN" sz="2000" dirty="0"/>
              <a:t>Country) </a:t>
            </a:r>
            <a:r>
              <a:rPr lang="en-IN" sz="2000" b="1" dirty="0">
                <a:solidFill>
                  <a:srgbClr val="7030A0"/>
                </a:solidFill>
              </a:rPr>
              <a:t>AS</a:t>
            </a:r>
            <a:r>
              <a:rPr lang="en-IN" sz="2000" dirty="0">
                <a:solidFill>
                  <a:srgbClr val="7030A0"/>
                </a:solidFill>
              </a:rPr>
              <a:t> </a:t>
            </a:r>
            <a:r>
              <a:rPr lang="en-IN" sz="2000" dirty="0" smtClean="0"/>
              <a:t>Address </a:t>
            </a:r>
            <a:r>
              <a:rPr lang="en-IN" sz="2000" b="1" dirty="0" smtClean="0">
                <a:solidFill>
                  <a:srgbClr val="7030A0"/>
                </a:solidFill>
              </a:rPr>
              <a:t>FROM</a:t>
            </a:r>
            <a:r>
              <a:rPr lang="en-IN" sz="2000" dirty="0" smtClean="0">
                <a:solidFill>
                  <a:srgbClr val="7030A0"/>
                </a:solidFill>
              </a:rPr>
              <a:t> </a:t>
            </a:r>
            <a:r>
              <a:rPr lang="en-IN" sz="2000" dirty="0"/>
              <a:t>Customers;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2266874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a:solidFill>
                  <a:srgbClr val="FFFF00"/>
                </a:solidFill>
              </a:rPr>
              <a:t>6. HAVING</a:t>
            </a:r>
          </a:p>
        </p:txBody>
      </p:sp>
      <p:sp>
        <p:nvSpPr>
          <p:cNvPr id="3" name="Text Placeholder 2"/>
          <p:cNvSpPr>
            <a:spLocks noGrp="1"/>
          </p:cNvSpPr>
          <p:nvPr>
            <p:ph type="body" idx="1"/>
          </p:nvPr>
        </p:nvSpPr>
        <p:spPr>
          <a:xfrm>
            <a:off x="814274" y="1827288"/>
            <a:ext cx="7430133" cy="4194000"/>
          </a:xfrm>
        </p:spPr>
        <p:txBody>
          <a:bodyPr/>
          <a:lstStyle/>
          <a:p>
            <a:pPr>
              <a:lnSpc>
                <a:spcPct val="150000"/>
              </a:lnSpc>
              <a:spcBef>
                <a:spcPts val="0"/>
              </a:spcBef>
              <a:spcAft>
                <a:spcPts val="1200"/>
              </a:spcAft>
            </a:pPr>
            <a:r>
              <a:rPr lang="en-IN" sz="2000" dirty="0"/>
              <a:t>The </a:t>
            </a:r>
            <a:r>
              <a:rPr lang="en-IN" sz="2000" b="1" dirty="0"/>
              <a:t>HAVING</a:t>
            </a:r>
            <a:r>
              <a:rPr lang="en-IN" sz="2000" dirty="0"/>
              <a:t> command is used instead of </a:t>
            </a:r>
            <a:r>
              <a:rPr lang="en-IN" sz="2000" b="1" dirty="0"/>
              <a:t>WHERE</a:t>
            </a:r>
            <a:r>
              <a:rPr lang="en-IN" sz="2000" dirty="0"/>
              <a:t> with aggregate functions</a:t>
            </a:r>
            <a:r>
              <a:rPr lang="en-IN" sz="2000" dirty="0" smtClean="0"/>
              <a:t>.</a:t>
            </a:r>
          </a:p>
          <a:p>
            <a:pPr>
              <a:lnSpc>
                <a:spcPct val="150000"/>
              </a:lnSpc>
              <a:spcBef>
                <a:spcPts val="0"/>
              </a:spcBef>
              <a:spcAft>
                <a:spcPts val="1200"/>
              </a:spcAft>
            </a:pPr>
            <a:r>
              <a:rPr lang="en-IN" sz="2000" dirty="0"/>
              <a:t>HAVING clause in MySQL used in conjunction with GROUP BY clause </a:t>
            </a:r>
            <a:endParaRPr lang="en-IN" sz="2000" dirty="0" smtClean="0"/>
          </a:p>
          <a:p>
            <a:pPr>
              <a:lnSpc>
                <a:spcPct val="150000"/>
              </a:lnSpc>
              <a:spcBef>
                <a:spcPts val="0"/>
              </a:spcBef>
              <a:spcAft>
                <a:spcPts val="1200"/>
              </a:spcAft>
            </a:pPr>
            <a:r>
              <a:rPr lang="en-IN" sz="2000" b="1" dirty="0"/>
              <a:t>SELECT COUNT</a:t>
            </a:r>
            <a:r>
              <a:rPr lang="en-IN" sz="2000" dirty="0"/>
              <a:t>(</a:t>
            </a:r>
            <a:r>
              <a:rPr lang="en-IN" sz="2000" dirty="0" err="1"/>
              <a:t>CustomerID</a:t>
            </a:r>
            <a:r>
              <a:rPr lang="en-IN" sz="2000" dirty="0"/>
              <a:t>), </a:t>
            </a:r>
            <a:r>
              <a:rPr lang="en-IN" sz="2000" dirty="0" smtClean="0"/>
              <a:t>Country </a:t>
            </a:r>
            <a:r>
              <a:rPr lang="en-IN" sz="2000" b="1" dirty="0" smtClean="0"/>
              <a:t>FROM</a:t>
            </a:r>
            <a:r>
              <a:rPr lang="en-IN" sz="2000" dirty="0" smtClean="0"/>
              <a:t> Customers </a:t>
            </a:r>
            <a:r>
              <a:rPr lang="en-IN" sz="2000" b="1" dirty="0" smtClean="0"/>
              <a:t>GROUP </a:t>
            </a:r>
            <a:r>
              <a:rPr lang="en-IN" sz="2000" b="1" dirty="0"/>
              <a:t>BY </a:t>
            </a:r>
            <a:r>
              <a:rPr lang="en-IN" sz="2000" dirty="0" smtClean="0"/>
              <a:t>Country </a:t>
            </a:r>
            <a:r>
              <a:rPr lang="en-IN" sz="2000" b="1" dirty="0" smtClean="0"/>
              <a:t>HAVING</a:t>
            </a:r>
            <a:r>
              <a:rPr lang="en-IN" sz="2000" dirty="0" smtClean="0"/>
              <a:t> </a:t>
            </a:r>
            <a:r>
              <a:rPr lang="en-IN" sz="2000" b="1" dirty="0"/>
              <a:t>COUNT</a:t>
            </a:r>
            <a:r>
              <a:rPr lang="en-IN" sz="2000" dirty="0"/>
              <a:t>(</a:t>
            </a:r>
            <a:r>
              <a:rPr lang="en-IN" sz="2000" dirty="0" err="1"/>
              <a:t>CustomerID</a:t>
            </a:r>
            <a:r>
              <a:rPr lang="en-IN" sz="2000" dirty="0"/>
              <a:t>) &gt; 5</a:t>
            </a:r>
            <a:r>
              <a:rPr lang="en-IN" sz="2000" dirty="0" smtClean="0"/>
              <a:t>;</a:t>
            </a:r>
          </a:p>
          <a:p>
            <a:pPr>
              <a:lnSpc>
                <a:spcPct val="150000"/>
              </a:lnSpc>
              <a:spcBef>
                <a:spcPts val="0"/>
              </a:spcBef>
              <a:spcAft>
                <a:spcPts val="1200"/>
              </a:spcAft>
            </a:pP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3765889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Difference between WHERE and HAVING Clause</a:t>
            </a:r>
            <a:endParaRPr lang="en-IN" dirty="0"/>
          </a:p>
        </p:txBody>
      </p:sp>
      <p:sp>
        <p:nvSpPr>
          <p:cNvPr id="3" name="Text Placeholder 2"/>
          <p:cNvSpPr>
            <a:spLocks noGrp="1"/>
          </p:cNvSpPr>
          <p:nvPr>
            <p:ph type="body" idx="1"/>
          </p:nvPr>
        </p:nvSpPr>
        <p:spPr>
          <a:xfrm>
            <a:off x="814274" y="1769800"/>
            <a:ext cx="8006198" cy="4194000"/>
          </a:xfrm>
        </p:spPr>
        <p:txBody>
          <a:bodyPr/>
          <a:lstStyle/>
          <a:p>
            <a:pPr>
              <a:lnSpc>
                <a:spcPct val="150000"/>
              </a:lnSpc>
              <a:spcBef>
                <a:spcPts val="0"/>
              </a:spcBef>
              <a:spcAft>
                <a:spcPts val="1200"/>
              </a:spcAft>
            </a:pPr>
            <a:r>
              <a:rPr lang="en-IN" sz="2000" b="1" dirty="0"/>
              <a:t>WHERE</a:t>
            </a:r>
            <a:r>
              <a:rPr lang="en-IN" sz="2000" dirty="0"/>
              <a:t> clause filters individual rows, whereas the </a:t>
            </a:r>
            <a:r>
              <a:rPr lang="en-IN" sz="2000" b="1" dirty="0"/>
              <a:t>HAVING</a:t>
            </a:r>
            <a:r>
              <a:rPr lang="en-IN" sz="2000" dirty="0"/>
              <a:t> clause filters groups instead of one row at a time</a:t>
            </a:r>
            <a:r>
              <a:rPr lang="en-IN" sz="2000" dirty="0" smtClean="0"/>
              <a:t>.</a:t>
            </a:r>
          </a:p>
          <a:p>
            <a:pPr>
              <a:lnSpc>
                <a:spcPct val="150000"/>
              </a:lnSpc>
              <a:spcBef>
                <a:spcPts val="0"/>
              </a:spcBef>
              <a:spcAft>
                <a:spcPts val="1200"/>
              </a:spcAft>
            </a:pPr>
            <a:r>
              <a:rPr lang="en-IN" sz="2000" dirty="0"/>
              <a:t>We cannot use the </a:t>
            </a:r>
            <a:r>
              <a:rPr lang="en-IN" sz="2000" b="1" dirty="0"/>
              <a:t>WHERE</a:t>
            </a:r>
            <a:r>
              <a:rPr lang="en-IN" sz="2000" dirty="0"/>
              <a:t> clause with aggregate functions because it works for filtering individual rows. In contrast, </a:t>
            </a:r>
            <a:r>
              <a:rPr lang="en-IN" sz="2000" b="1" dirty="0"/>
              <a:t>HAVING</a:t>
            </a:r>
            <a:r>
              <a:rPr lang="en-IN" sz="2000" dirty="0"/>
              <a:t> can works with aggregate functions because it is used to filter groups</a:t>
            </a:r>
            <a:r>
              <a:rPr lang="en-IN" sz="2000" dirty="0" smtClean="0"/>
              <a:t>.</a:t>
            </a:r>
          </a:p>
          <a:p>
            <a:pPr>
              <a:lnSpc>
                <a:spcPct val="150000"/>
              </a:lnSpc>
              <a:spcBef>
                <a:spcPts val="0"/>
              </a:spcBef>
              <a:spcAft>
                <a:spcPts val="1200"/>
              </a:spcAft>
            </a:pPr>
            <a:r>
              <a:rPr lang="en-IN" sz="2000" dirty="0"/>
              <a:t>Row operations are handled by the WHERE clause, while the HAVING clause handles column operations to summarized rows or groups</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Tree>
    <p:extLst>
      <p:ext uri="{BB962C8B-B14F-4D97-AF65-F5344CB8AC3E}">
        <p14:creationId xmlns:p14="http://schemas.microsoft.com/office/powerpoint/2010/main" val="383179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a:t>
            </a:r>
            <a:r>
              <a:rPr lang="en-IN" dirty="0" smtClean="0"/>
              <a:t>…</a:t>
            </a:r>
            <a:endParaRPr lang="en-IN" dirty="0"/>
          </a:p>
        </p:txBody>
      </p:sp>
      <p:sp>
        <p:nvSpPr>
          <p:cNvPr id="3" name="Text Placeholder 2"/>
          <p:cNvSpPr>
            <a:spLocks noGrp="1"/>
          </p:cNvSpPr>
          <p:nvPr>
            <p:ph type="body" idx="1"/>
          </p:nvPr>
        </p:nvSpPr>
        <p:spPr>
          <a:xfrm>
            <a:off x="814274" y="1769800"/>
            <a:ext cx="7862182" cy="4194000"/>
          </a:xfrm>
        </p:spPr>
        <p:txBody>
          <a:bodyPr>
            <a:normAutofit fontScale="92500" lnSpcReduction="10000"/>
          </a:bodyPr>
          <a:lstStyle/>
          <a:p>
            <a:pPr>
              <a:lnSpc>
                <a:spcPct val="150000"/>
              </a:lnSpc>
              <a:spcBef>
                <a:spcPts val="0"/>
              </a:spcBef>
              <a:spcAft>
                <a:spcPts val="1200"/>
              </a:spcAft>
            </a:pPr>
            <a:r>
              <a:rPr lang="en-IN" sz="2000" dirty="0"/>
              <a:t>WHERE comes before GROUP BY, which means WHERE clause filter rows before performing aggregate calculations. HAVING comes after GROUP BY, which means the HAVING clause filters rows after performing aggregate calculations. Consequently, HAVING is slower than WHERE in terms of efficiency and should be avoided wherever possible</a:t>
            </a:r>
            <a:r>
              <a:rPr lang="en-IN" sz="2000" dirty="0" smtClean="0"/>
              <a:t>.</a:t>
            </a:r>
          </a:p>
          <a:p>
            <a:pPr>
              <a:lnSpc>
                <a:spcPct val="150000"/>
              </a:lnSpc>
              <a:spcBef>
                <a:spcPts val="0"/>
              </a:spcBef>
              <a:spcAft>
                <a:spcPts val="1200"/>
              </a:spcAft>
            </a:pPr>
            <a:r>
              <a:rPr lang="en-IN" sz="2000" dirty="0"/>
              <a:t>We can combine the WHERE and HAVING clause together in a SELECT query. In this case, the WHERE clause is used first to filter individual rows. The rows are then grouped, perform aggregate calculations, and finally, the HAVING clause is used to filter the groups</a:t>
            </a:r>
            <a:r>
              <a:rPr lang="en-IN" sz="2000" dirty="0" smtClean="0"/>
              <a:t>.</a:t>
            </a:r>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Tree>
    <p:extLst>
      <p:ext uri="{BB962C8B-B14F-4D97-AF65-F5344CB8AC3E}">
        <p14:creationId xmlns:p14="http://schemas.microsoft.com/office/powerpoint/2010/main" val="181833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Cont</a:t>
            </a:r>
            <a:r>
              <a:rPr lang="en-IN" dirty="0" smtClean="0"/>
              <a:t>…</a:t>
            </a:r>
            <a:endParaRPr lang="en-IN" dirty="0"/>
          </a:p>
        </p:txBody>
      </p:sp>
      <p:sp>
        <p:nvSpPr>
          <p:cNvPr id="3" name="Text Placeholder 2"/>
          <p:cNvSpPr>
            <a:spLocks noGrp="1"/>
          </p:cNvSpPr>
          <p:nvPr>
            <p:ph type="body" idx="1"/>
          </p:nvPr>
        </p:nvSpPr>
        <p:spPr>
          <a:xfrm>
            <a:off x="814274" y="1769800"/>
            <a:ext cx="7646157" cy="4194000"/>
          </a:xfrm>
        </p:spPr>
        <p:txBody>
          <a:bodyPr/>
          <a:lstStyle/>
          <a:p>
            <a:pPr>
              <a:lnSpc>
                <a:spcPct val="150000"/>
              </a:lnSpc>
              <a:spcBef>
                <a:spcPts val="0"/>
              </a:spcBef>
              <a:spcAft>
                <a:spcPts val="1200"/>
              </a:spcAft>
            </a:pPr>
            <a:r>
              <a:rPr lang="en-IN" sz="2000" dirty="0"/>
              <a:t>The WHERE clause retrieves the desired data based on the specified condition. On the other hand, the HAVING clause first fetches whole data, and then separation is done based on the specified condition.</a:t>
            </a:r>
          </a:p>
          <a:p>
            <a:pPr>
              <a:lnSpc>
                <a:spcPct val="150000"/>
              </a:lnSpc>
              <a:spcBef>
                <a:spcPts val="0"/>
              </a:spcBef>
              <a:spcAft>
                <a:spcPts val="1200"/>
              </a:spcAft>
            </a:pPr>
            <a:r>
              <a:rPr lang="en-IN" sz="2000" dirty="0"/>
              <a:t>Without a SELECT statement, we cannot use the HAVING clause. Conversely, we can use a WHERE with SELECT, UPDATE, and DELETE statements.</a:t>
            </a:r>
          </a:p>
          <a:p>
            <a:pPr>
              <a:lnSpc>
                <a:spcPct val="150000"/>
              </a:lnSpc>
              <a:spcBef>
                <a:spcPts val="0"/>
              </a:spcBef>
              <a:spcAft>
                <a:spcPts val="1200"/>
              </a:spcAft>
            </a:pPr>
            <a:r>
              <a:rPr lang="en-IN" sz="2000" dirty="0"/>
              <a:t>WHERE clause is a pre-filter, whereas HAVING clause is a post-filter.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Tree>
    <p:extLst>
      <p:ext uri="{BB962C8B-B14F-4D97-AF65-F5344CB8AC3E}">
        <p14:creationId xmlns:p14="http://schemas.microsoft.com/office/powerpoint/2010/main" val="22615339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400" dirty="0" smtClean="0">
                <a:solidFill>
                  <a:srgbClr val="FFFF00"/>
                </a:solidFill>
              </a:rPr>
              <a:t>7. Group By</a:t>
            </a:r>
            <a:endParaRPr lang="en-IN" sz="2400" dirty="0">
              <a:solidFill>
                <a:srgbClr val="FFFF00"/>
              </a:solidFill>
            </a:endParaRPr>
          </a:p>
        </p:txBody>
      </p:sp>
      <p:sp>
        <p:nvSpPr>
          <p:cNvPr id="3" name="Text Placeholder 2"/>
          <p:cNvSpPr>
            <a:spLocks noGrp="1"/>
          </p:cNvSpPr>
          <p:nvPr>
            <p:ph type="body" idx="1"/>
          </p:nvPr>
        </p:nvSpPr>
        <p:spPr>
          <a:xfrm>
            <a:off x="814274" y="1769800"/>
            <a:ext cx="7430133" cy="4194000"/>
          </a:xfrm>
        </p:spPr>
        <p:txBody>
          <a:bodyPr/>
          <a:lstStyle/>
          <a:p>
            <a:pPr>
              <a:lnSpc>
                <a:spcPct val="150000"/>
              </a:lnSpc>
            </a:pPr>
            <a:r>
              <a:rPr lang="en-IN" sz="2000" dirty="0"/>
              <a:t>The </a:t>
            </a:r>
            <a:r>
              <a:rPr lang="en-IN" sz="2000" b="1" dirty="0"/>
              <a:t>GROUP BY </a:t>
            </a:r>
            <a:r>
              <a:rPr lang="en-IN" sz="2000" dirty="0"/>
              <a:t>statement groups rows that have the </a:t>
            </a:r>
            <a:r>
              <a:rPr lang="en-IN" sz="2000" b="1" dirty="0"/>
              <a:t>same values </a:t>
            </a:r>
            <a:r>
              <a:rPr lang="en-IN" sz="2000" dirty="0"/>
              <a:t>into summary rows, like "find the number of customers in each country".</a:t>
            </a:r>
          </a:p>
          <a:p>
            <a:pPr>
              <a:lnSpc>
                <a:spcPct val="150000"/>
              </a:lnSpc>
            </a:pPr>
            <a:endParaRPr lang="en-IN" sz="2000" dirty="0"/>
          </a:p>
          <a:p>
            <a:pPr>
              <a:lnSpc>
                <a:spcPct val="150000"/>
              </a:lnSpc>
            </a:pPr>
            <a:r>
              <a:rPr lang="en-IN" sz="2000" dirty="0"/>
              <a:t>The GROUP BY statement is often used with aggregate functions </a:t>
            </a:r>
            <a:r>
              <a:rPr lang="en-IN" sz="2000" b="1" dirty="0" smtClean="0"/>
              <a:t>[COUNT</a:t>
            </a:r>
            <a:r>
              <a:rPr lang="en-IN" sz="2000" b="1" dirty="0"/>
              <a:t>(), MAX(), MIN(), SUM(), AVG</a:t>
            </a:r>
            <a:r>
              <a:rPr lang="en-IN" sz="2000" b="1" dirty="0" smtClean="0"/>
              <a:t>()] </a:t>
            </a:r>
            <a:r>
              <a:rPr lang="en-IN" sz="2000" dirty="0"/>
              <a:t>to group the result-set by one or more columns.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Tree>
    <p:extLst>
      <p:ext uri="{BB962C8B-B14F-4D97-AF65-F5344CB8AC3E}">
        <p14:creationId xmlns:p14="http://schemas.microsoft.com/office/powerpoint/2010/main" val="1126122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sp>
        <p:nvSpPr>
          <p:cNvPr id="3" name="Text Placeholder 2"/>
          <p:cNvSpPr>
            <a:spLocks noGrp="1"/>
          </p:cNvSpPr>
          <p:nvPr>
            <p:ph type="body" idx="1"/>
          </p:nvPr>
        </p:nvSpPr>
        <p:spPr>
          <a:xfrm>
            <a:off x="827584" y="1772816"/>
            <a:ext cx="6132600" cy="579080"/>
          </a:xfrm>
        </p:spPr>
        <p:txBody>
          <a:bodyPr/>
          <a:lstStyle/>
          <a:p>
            <a:r>
              <a:rPr lang="en-IN" sz="2000" b="1" dirty="0" smtClean="0"/>
              <a:t>SELECT</a:t>
            </a:r>
            <a:r>
              <a:rPr lang="en-IN" sz="2000" dirty="0" smtClean="0"/>
              <a:t> job </a:t>
            </a:r>
            <a:r>
              <a:rPr lang="en-IN" sz="2000" b="1" dirty="0" smtClean="0"/>
              <a:t>From</a:t>
            </a:r>
            <a:r>
              <a:rPr lang="en-IN" sz="2000" dirty="0" smtClean="0"/>
              <a:t> employee;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016" y="1916832"/>
            <a:ext cx="3960440" cy="208559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Placeholder 2"/>
          <p:cNvSpPr txBox="1">
            <a:spLocks/>
          </p:cNvSpPr>
          <p:nvPr/>
        </p:nvSpPr>
        <p:spPr>
          <a:xfrm>
            <a:off x="827584" y="4074056"/>
            <a:ext cx="6132600" cy="57908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1pPr>
            <a:lvl2pPr marL="914400" marR="0" lvl="1"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2pPr>
            <a:lvl3pPr marL="1371600" marR="0" lvl="2"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3pPr>
            <a:lvl4pPr marL="1828800" marR="0" lvl="3"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4pPr>
            <a:lvl5pPr marL="2286000" marR="0" lvl="4"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5pPr>
            <a:lvl6pPr marL="2743200" marR="0" lvl="5"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6pPr>
            <a:lvl7pPr marL="3200400" marR="0" lvl="6"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7pPr>
            <a:lvl8pPr marL="3657600" marR="0" lvl="7" indent="-381000" algn="l" rtl="0">
              <a:lnSpc>
                <a:spcPct val="100000"/>
              </a:lnSpc>
              <a:spcBef>
                <a:spcPts val="1000"/>
              </a:spcBef>
              <a:spcAft>
                <a:spcPts val="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8pPr>
            <a:lvl9pPr marL="4114800" marR="0" lvl="8" indent="-381000" algn="l" rtl="0">
              <a:lnSpc>
                <a:spcPct val="100000"/>
              </a:lnSpc>
              <a:spcBef>
                <a:spcPts val="1000"/>
              </a:spcBef>
              <a:spcAft>
                <a:spcPts val="1000"/>
              </a:spcAft>
              <a:buClr>
                <a:schemeClr val="accent4"/>
              </a:buClr>
              <a:buSzPts val="2400"/>
              <a:buFont typeface="Roboto Condensed Light"/>
              <a:buChar char="▻"/>
              <a:defRPr sz="2400" b="0" i="0" u="none" strike="noStrike" cap="none">
                <a:solidFill>
                  <a:schemeClr val="dk1"/>
                </a:solidFill>
                <a:latin typeface="Roboto Condensed Light"/>
                <a:ea typeface="Roboto Condensed Light"/>
                <a:cs typeface="Roboto Condensed Light"/>
                <a:sym typeface="Roboto Condensed Light"/>
              </a:defRPr>
            </a:lvl9pPr>
          </a:lstStyle>
          <a:p>
            <a:r>
              <a:rPr lang="en-IN" sz="2000" b="1" dirty="0" smtClean="0"/>
              <a:t>SELECT</a:t>
            </a:r>
            <a:r>
              <a:rPr lang="en-IN" sz="2000" dirty="0" smtClean="0"/>
              <a:t> job </a:t>
            </a:r>
            <a:r>
              <a:rPr lang="en-IN" sz="2000" b="1" dirty="0" smtClean="0"/>
              <a:t>FROM</a:t>
            </a:r>
            <a:r>
              <a:rPr lang="en-IN" sz="2000" dirty="0" smtClean="0"/>
              <a:t> employee </a:t>
            </a:r>
            <a:r>
              <a:rPr lang="en-IN" sz="2000" b="1" dirty="0" smtClean="0"/>
              <a:t>GROUP BY </a:t>
            </a:r>
            <a:r>
              <a:rPr lang="en-IN" sz="2000" dirty="0" smtClean="0"/>
              <a:t>job</a:t>
            </a:r>
            <a:r>
              <a:rPr lang="en-IN" sz="2000" dirty="0"/>
              <a:t>;</a:t>
            </a:r>
            <a:endParaRPr lang="en-IN" sz="2000" dirty="0" smtClean="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4797152"/>
            <a:ext cx="6156684" cy="200176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974704"/>
      </p:ext>
    </p:extLst>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1215</TotalTime>
  <Words>1276</Words>
  <Application>Microsoft Office PowerPoint</Application>
  <PresentationFormat>On-screen Show (4:3)</PresentationFormat>
  <Paragraphs>179</Paragraphs>
  <Slides>33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Roboto Condensed</vt:lpstr>
      <vt:lpstr>Roboto Condensed Light</vt:lpstr>
      <vt:lpstr>Raavi</vt:lpstr>
      <vt:lpstr>Arial</vt:lpstr>
      <vt:lpstr>Arvo</vt:lpstr>
      <vt:lpstr>Salerio template</vt:lpstr>
      <vt:lpstr>Data Manipulation Language (DML)</vt:lpstr>
      <vt:lpstr>AGENDA</vt:lpstr>
      <vt:lpstr>What is DML?</vt:lpstr>
      <vt:lpstr>What is DML?</vt:lpstr>
      <vt:lpstr>DML Commands</vt:lpstr>
      <vt:lpstr>1. INSERT - Syntax</vt:lpstr>
      <vt:lpstr>Examples</vt:lpstr>
      <vt:lpstr> Insert data from another table</vt:lpstr>
      <vt:lpstr>Inserting DATE</vt:lpstr>
      <vt:lpstr>Inserting multiple rows</vt:lpstr>
      <vt:lpstr>2. SELECT</vt:lpstr>
      <vt:lpstr>Syntax</vt:lpstr>
      <vt:lpstr>Examples</vt:lpstr>
      <vt:lpstr>3. UPDATE</vt:lpstr>
      <vt:lpstr>Examples</vt:lpstr>
      <vt:lpstr>4. DELETE </vt:lpstr>
      <vt:lpstr>Difference between DELETE and TRUNCATE</vt:lpstr>
      <vt:lpstr>SQL Clause</vt:lpstr>
      <vt:lpstr>SQL Clauses</vt:lpstr>
      <vt:lpstr>1. WHERE Clause</vt:lpstr>
      <vt:lpstr>2. AND &amp; OR</vt:lpstr>
      <vt:lpstr>Examples</vt:lpstr>
      <vt:lpstr>4. WITH</vt:lpstr>
      <vt:lpstr>Cont…</vt:lpstr>
      <vt:lpstr>Example 1</vt:lpstr>
      <vt:lpstr>Example 2</vt:lpstr>
      <vt:lpstr>5. AS</vt:lpstr>
      <vt:lpstr>6. HAVING</vt:lpstr>
      <vt:lpstr>Difference between WHERE and HAVING Clause</vt:lpstr>
      <vt:lpstr>Cont…</vt:lpstr>
      <vt:lpstr>Cont…</vt:lpstr>
      <vt:lpstr>7. Group By</vt:lpstr>
      <vt:lpstr>Examples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Daphy Meurial</dc:creator>
  <cp:lastModifiedBy>Microsoft account</cp:lastModifiedBy>
  <cp:revision>269</cp:revision>
  <dcterms:modified xsi:type="dcterms:W3CDTF">2026-06-19T08:45:03Z</dcterms:modified>
</cp:coreProperties>
</file>