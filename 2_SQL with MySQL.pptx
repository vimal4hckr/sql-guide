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3"/>
  </p:notesMasterIdLst>
  <p:sldIdLst>
    <p:sldId id="256" r:id="rId2"/>
    <p:sldId id="257" r:id="rId3"/>
    <p:sldId id="300" r:id="rId4"/>
    <p:sldId id="261" r:id="rId5"/>
    <p:sldId id="288" r:id="rId6"/>
    <p:sldId id="324" r:id="rId7"/>
    <p:sldId id="325" r:id="rId8"/>
    <p:sldId id="289" r:id="rId9"/>
    <p:sldId id="290" r:id="rId10"/>
    <p:sldId id="291" r:id="rId11"/>
    <p:sldId id="326" r:id="rId12"/>
    <p:sldId id="292" r:id="rId13"/>
    <p:sldId id="293" r:id="rId14"/>
    <p:sldId id="294" r:id="rId15"/>
    <p:sldId id="295" r:id="rId16"/>
    <p:sldId id="296" r:id="rId17"/>
    <p:sldId id="297" r:id="rId18"/>
    <p:sldId id="299" r:id="rId19"/>
    <p:sldId id="298" r:id="rId20"/>
    <p:sldId id="301" r:id="rId21"/>
    <p:sldId id="302" r:id="rId22"/>
    <p:sldId id="303" r:id="rId23"/>
    <p:sldId id="304" r:id="rId24"/>
    <p:sldId id="306" r:id="rId25"/>
    <p:sldId id="307" r:id="rId26"/>
    <p:sldId id="308" r:id="rId27"/>
    <p:sldId id="305" r:id="rId28"/>
    <p:sldId id="309" r:id="rId29"/>
    <p:sldId id="310" r:id="rId30"/>
    <p:sldId id="311" r:id="rId31"/>
    <p:sldId id="313" r:id="rId32"/>
    <p:sldId id="314" r:id="rId33"/>
    <p:sldId id="315" r:id="rId34"/>
    <p:sldId id="316" r:id="rId35"/>
    <p:sldId id="318" r:id="rId36"/>
    <p:sldId id="317" r:id="rId37"/>
    <p:sldId id="319" r:id="rId38"/>
    <p:sldId id="320" r:id="rId39"/>
    <p:sldId id="321" r:id="rId40"/>
    <p:sldId id="322" r:id="rId41"/>
    <p:sldId id="323" r:id="rId4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Raavi" panose="020B0604020202020204" charset="0"/>
      <p:regular r:id="rId48"/>
      <p:bold r:id="rId49"/>
    </p:embeddedFont>
    <p:embeddedFont>
      <p:font typeface="Arvo" panose="020B0604020202020204" charset="0"/>
      <p:regular r:id="rId50"/>
      <p:bold r:id="rId51"/>
      <p:italic r:id="rId52"/>
      <p:boldItalic r:id="rId53"/>
    </p:embeddedFont>
    <p:embeddedFont>
      <p:font typeface="Arial Narrow" panose="020B0606020202030204" pitchFamily="34" charset="0"/>
      <p:regular r:id="rId54"/>
      <p:bold r:id="rId55"/>
      <p:italic r:id="rId56"/>
      <p:boldItalic r:id="rId57"/>
    </p:embeddedFont>
    <p:embeddedFont>
      <p:font typeface="Roboto Condensed" panose="020B0604020202020204" charset="0"/>
      <p:regular r:id="rId58"/>
      <p:bold r:id="rId59"/>
      <p:italic r:id="rId60"/>
      <p:boldItalic r:id="rId61"/>
    </p:embeddedFont>
    <p:embeddedFont>
      <p:font typeface="Roboto Condensed Light" panose="020B0604020202020204" charset="0"/>
      <p:regular r:id="rId62"/>
      <p:bold r:id="rId63"/>
      <p:italic r:id="rId64"/>
      <p:boldItalic r:id="rId65"/>
    </p:embeddedFont>
    <p:embeddedFont>
      <p:font typeface="Cambria" panose="02040503050406030204" pitchFamily="18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74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63" Type="http://schemas.openxmlformats.org/officeDocument/2006/relationships/font" Target="fonts/font20.fntdata"/><Relationship Id="rId68" Type="http://schemas.openxmlformats.org/officeDocument/2006/relationships/font" Target="fonts/font2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font" Target="fonts/font23.fntdata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69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font" Target="fonts/font22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ston.paul87@gmail.com" userId="f1da746e8ad794a0" providerId="LiveId" clId="{AD62AD2B-72AA-4363-9C0E-1EB0875D872E}"/>
    <pc:docChg chg="undo custSel addSld modSld">
      <pc:chgData name="winston.paul87@gmail.com" userId="f1da746e8ad794a0" providerId="LiveId" clId="{AD62AD2B-72AA-4363-9C0E-1EB0875D872E}" dt="2024-07-04T10:50:29.356" v="531" actId="167"/>
      <pc:docMkLst>
        <pc:docMk/>
      </pc:docMkLst>
      <pc:sldChg chg="modSp mod">
        <pc:chgData name="winston.paul87@gmail.com" userId="f1da746e8ad794a0" providerId="LiveId" clId="{AD62AD2B-72AA-4363-9C0E-1EB0875D872E}" dt="2024-06-18T09:27:28.709" v="5" actId="113"/>
        <pc:sldMkLst>
          <pc:docMk/>
          <pc:sldMk cId="0" sldId="257"/>
        </pc:sldMkLst>
        <pc:spChg chg="mod">
          <ac:chgData name="winston.paul87@gmail.com" userId="f1da746e8ad794a0" providerId="LiveId" clId="{AD62AD2B-72AA-4363-9C0E-1EB0875D872E}" dt="2024-06-18T09:27:28.709" v="5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mod modNotesTx">
        <pc:chgData name="winston.paul87@gmail.com" userId="f1da746e8ad794a0" providerId="LiveId" clId="{AD62AD2B-72AA-4363-9C0E-1EB0875D872E}" dt="2024-06-18T09:38:05.427" v="23"/>
        <pc:sldMkLst>
          <pc:docMk/>
          <pc:sldMk cId="0" sldId="261"/>
        </pc:sldMkLst>
        <pc:spChg chg="mod">
          <ac:chgData name="winston.paul87@gmail.com" userId="f1da746e8ad794a0" providerId="LiveId" clId="{AD62AD2B-72AA-4363-9C0E-1EB0875D872E}" dt="2024-06-18T09:28:34.528" v="20" actId="20577"/>
          <ac:spMkLst>
            <pc:docMk/>
            <pc:sldMk cId="0" sldId="261"/>
            <ac:spMk id="237" creationId="{00000000-0000-0000-0000-000000000000}"/>
          </ac:spMkLst>
        </pc:spChg>
      </pc:sldChg>
      <pc:sldChg chg="modSp mod">
        <pc:chgData name="winston.paul87@gmail.com" userId="f1da746e8ad794a0" providerId="LiveId" clId="{AD62AD2B-72AA-4363-9C0E-1EB0875D872E}" dt="2024-07-01T09:16:53.957" v="62" actId="20577"/>
        <pc:sldMkLst>
          <pc:docMk/>
          <pc:sldMk cId="2017862623" sldId="288"/>
        </pc:sldMkLst>
        <pc:spChg chg="mod">
          <ac:chgData name="winston.paul87@gmail.com" userId="f1da746e8ad794a0" providerId="LiveId" clId="{AD62AD2B-72AA-4363-9C0E-1EB0875D872E}" dt="2024-07-01T09:16:53.957" v="62" actId="20577"/>
          <ac:spMkLst>
            <pc:docMk/>
            <pc:sldMk cId="2017862623" sldId="288"/>
            <ac:spMk id="3" creationId="{00000000-0000-0000-0000-000000000000}"/>
          </ac:spMkLst>
        </pc:spChg>
      </pc:sldChg>
      <pc:sldChg chg="modSp mod">
        <pc:chgData name="winston.paul87@gmail.com" userId="f1da746e8ad794a0" providerId="LiveId" clId="{AD62AD2B-72AA-4363-9C0E-1EB0875D872E}" dt="2024-07-03T11:00:36.728" v="367" actId="14100"/>
        <pc:sldMkLst>
          <pc:docMk/>
          <pc:sldMk cId="2033091589" sldId="289"/>
        </pc:sldMkLst>
        <pc:spChg chg="mod">
          <ac:chgData name="winston.paul87@gmail.com" userId="f1da746e8ad794a0" providerId="LiveId" clId="{AD62AD2B-72AA-4363-9C0E-1EB0875D872E}" dt="2024-07-03T11:00:36.728" v="367" actId="14100"/>
          <ac:spMkLst>
            <pc:docMk/>
            <pc:sldMk cId="2033091589" sldId="289"/>
            <ac:spMk id="3" creationId="{00000000-0000-0000-0000-000000000000}"/>
          </ac:spMkLst>
        </pc:spChg>
      </pc:sldChg>
      <pc:sldChg chg="addSp delSp modSp mod">
        <pc:chgData name="winston.paul87@gmail.com" userId="f1da746e8ad794a0" providerId="LiveId" clId="{AD62AD2B-72AA-4363-9C0E-1EB0875D872E}" dt="2024-07-03T11:19:54.464" v="520" actId="5793"/>
        <pc:sldMkLst>
          <pc:docMk/>
          <pc:sldMk cId="1593783265" sldId="291"/>
        </pc:sldMkLst>
        <pc:spChg chg="mod">
          <ac:chgData name="winston.paul87@gmail.com" userId="f1da746e8ad794a0" providerId="LiveId" clId="{AD62AD2B-72AA-4363-9C0E-1EB0875D872E}" dt="2024-07-03T11:19:54.464" v="520" actId="5793"/>
          <ac:spMkLst>
            <pc:docMk/>
            <pc:sldMk cId="1593783265" sldId="291"/>
            <ac:spMk id="3" creationId="{00000000-0000-0000-0000-000000000000}"/>
          </ac:spMkLst>
        </pc:spChg>
        <pc:spChg chg="add">
          <ac:chgData name="winston.paul87@gmail.com" userId="f1da746e8ad794a0" providerId="LiveId" clId="{AD62AD2B-72AA-4363-9C0E-1EB0875D872E}" dt="2024-07-03T11:08:10.715" v="368"/>
          <ac:spMkLst>
            <pc:docMk/>
            <pc:sldMk cId="1593783265" sldId="291"/>
            <ac:spMk id="5" creationId="{5FAC82F7-F3B1-D4FD-50C6-517320E5521E}"/>
          </ac:spMkLst>
        </pc:spChg>
        <pc:spChg chg="add del mod">
          <ac:chgData name="winston.paul87@gmail.com" userId="f1da746e8ad794a0" providerId="LiveId" clId="{AD62AD2B-72AA-4363-9C0E-1EB0875D872E}" dt="2024-07-03T11:15:07.347" v="450" actId="478"/>
          <ac:spMkLst>
            <pc:docMk/>
            <pc:sldMk cId="1593783265" sldId="291"/>
            <ac:spMk id="6" creationId="{538818EA-FC9B-E49E-0589-B5013A3A873D}"/>
          </ac:spMkLst>
        </pc:spChg>
        <pc:spChg chg="add del mod">
          <ac:chgData name="winston.paul87@gmail.com" userId="f1da746e8ad794a0" providerId="LiveId" clId="{AD62AD2B-72AA-4363-9C0E-1EB0875D872E}" dt="2024-07-03T11:18:39.569" v="501" actId="478"/>
          <ac:spMkLst>
            <pc:docMk/>
            <pc:sldMk cId="1593783265" sldId="291"/>
            <ac:spMk id="8" creationId="{5EA69325-45E6-EF6D-1B6E-8413640ED168}"/>
          </ac:spMkLst>
        </pc:spChg>
      </pc:sldChg>
      <pc:sldChg chg="modSp mod">
        <pc:chgData name="winston.paul87@gmail.com" userId="f1da746e8ad794a0" providerId="LiveId" clId="{AD62AD2B-72AA-4363-9C0E-1EB0875D872E}" dt="2024-07-01T09:45:35.663" v="364" actId="14100"/>
        <pc:sldMkLst>
          <pc:docMk/>
          <pc:sldMk cId="276388945" sldId="292"/>
        </pc:sldMkLst>
        <pc:spChg chg="mod">
          <ac:chgData name="winston.paul87@gmail.com" userId="f1da746e8ad794a0" providerId="LiveId" clId="{AD62AD2B-72AA-4363-9C0E-1EB0875D872E}" dt="2024-07-01T09:45:35.663" v="364" actId="14100"/>
          <ac:spMkLst>
            <pc:docMk/>
            <pc:sldMk cId="276388945" sldId="292"/>
            <ac:spMk id="2" creationId="{00000000-0000-0000-0000-000000000000}"/>
          </ac:spMkLst>
        </pc:spChg>
      </pc:sldChg>
      <pc:sldChg chg="modSp mod">
        <pc:chgData name="winston.paul87@gmail.com" userId="f1da746e8ad794a0" providerId="LiveId" clId="{AD62AD2B-72AA-4363-9C0E-1EB0875D872E}" dt="2024-07-01T09:45:40.209" v="365" actId="14100"/>
        <pc:sldMkLst>
          <pc:docMk/>
          <pc:sldMk cId="2540961915" sldId="293"/>
        </pc:sldMkLst>
        <pc:spChg chg="mod">
          <ac:chgData name="winston.paul87@gmail.com" userId="f1da746e8ad794a0" providerId="LiveId" clId="{AD62AD2B-72AA-4363-9C0E-1EB0875D872E}" dt="2024-07-01T09:45:40.209" v="365" actId="14100"/>
          <ac:spMkLst>
            <pc:docMk/>
            <pc:sldMk cId="2540961915" sldId="293"/>
            <ac:spMk id="2" creationId="{00000000-0000-0000-0000-000000000000}"/>
          </ac:spMkLst>
        </pc:spChg>
      </pc:sldChg>
      <pc:sldChg chg="modSp mod">
        <pc:chgData name="winston.paul87@gmail.com" userId="f1da746e8ad794a0" providerId="LiveId" clId="{AD62AD2B-72AA-4363-9C0E-1EB0875D872E}" dt="2024-07-03T12:30:52.590" v="524" actId="20577"/>
        <pc:sldMkLst>
          <pc:docMk/>
          <pc:sldMk cId="2754069492" sldId="298"/>
        </pc:sldMkLst>
        <pc:spChg chg="mod">
          <ac:chgData name="winston.paul87@gmail.com" userId="f1da746e8ad794a0" providerId="LiveId" clId="{AD62AD2B-72AA-4363-9C0E-1EB0875D872E}" dt="2024-07-03T12:30:52.590" v="524" actId="20577"/>
          <ac:spMkLst>
            <pc:docMk/>
            <pc:sldMk cId="2754069492" sldId="298"/>
            <ac:spMk id="3" creationId="{00000000-0000-0000-0000-000000000000}"/>
          </ac:spMkLst>
        </pc:spChg>
      </pc:sldChg>
      <pc:sldChg chg="modNotesTx">
        <pc:chgData name="winston.paul87@gmail.com" userId="f1da746e8ad794a0" providerId="LiveId" clId="{AD62AD2B-72AA-4363-9C0E-1EB0875D872E}" dt="2024-07-03T12:35:54.931" v="529"/>
        <pc:sldMkLst>
          <pc:docMk/>
          <pc:sldMk cId="3076760318" sldId="302"/>
        </pc:sldMkLst>
      </pc:sldChg>
      <pc:sldChg chg="modSp">
        <pc:chgData name="winston.paul87@gmail.com" userId="f1da746e8ad794a0" providerId="LiveId" clId="{AD62AD2B-72AA-4363-9C0E-1EB0875D872E}" dt="2024-07-04T10:50:29.356" v="531" actId="167"/>
        <pc:sldMkLst>
          <pc:docMk/>
          <pc:sldMk cId="3519746296" sldId="311"/>
        </pc:sldMkLst>
        <pc:picChg chg="mod">
          <ac:chgData name="winston.paul87@gmail.com" userId="f1da746e8ad794a0" providerId="LiveId" clId="{AD62AD2B-72AA-4363-9C0E-1EB0875D872E}" dt="2024-07-04T10:50:29.356" v="531" actId="167"/>
          <ac:picMkLst>
            <pc:docMk/>
            <pc:sldMk cId="3519746296" sldId="311"/>
            <ac:picMk id="5123" creationId="{00000000-0000-0000-0000-000000000000}"/>
          </ac:picMkLst>
        </pc:picChg>
      </pc:sldChg>
      <pc:sldChg chg="modSp new mod">
        <pc:chgData name="winston.paul87@gmail.com" userId="f1da746e8ad794a0" providerId="LiveId" clId="{AD62AD2B-72AA-4363-9C0E-1EB0875D872E}" dt="2024-07-03T10:58:11.072" v="366" actId="1035"/>
        <pc:sldMkLst>
          <pc:docMk/>
          <pc:sldMk cId="532647940" sldId="324"/>
        </pc:sldMkLst>
        <pc:spChg chg="mod">
          <ac:chgData name="winston.paul87@gmail.com" userId="f1da746e8ad794a0" providerId="LiveId" clId="{AD62AD2B-72AA-4363-9C0E-1EB0875D872E}" dt="2024-07-01T09:15:03.282" v="52" actId="403"/>
          <ac:spMkLst>
            <pc:docMk/>
            <pc:sldMk cId="532647940" sldId="324"/>
            <ac:spMk id="2" creationId="{76D31A5C-6902-7FE5-D533-00929489F88D}"/>
          </ac:spMkLst>
        </pc:spChg>
        <pc:spChg chg="mod">
          <ac:chgData name="winston.paul87@gmail.com" userId="f1da746e8ad794a0" providerId="LiveId" clId="{AD62AD2B-72AA-4363-9C0E-1EB0875D872E}" dt="2024-07-03T10:58:11.072" v="366" actId="1035"/>
          <ac:spMkLst>
            <pc:docMk/>
            <pc:sldMk cId="532647940" sldId="324"/>
            <ac:spMk id="3" creationId="{3FA799B1-E437-A490-4F55-E0FB6F8AC9DC}"/>
          </ac:spMkLst>
        </pc:spChg>
      </pc:sldChg>
      <pc:sldChg chg="modSp add mod">
        <pc:chgData name="winston.paul87@gmail.com" userId="f1da746e8ad794a0" providerId="LiveId" clId="{AD62AD2B-72AA-4363-9C0E-1EB0875D872E}" dt="2024-07-01T09:40:31.862" v="363" actId="20577"/>
        <pc:sldMkLst>
          <pc:docMk/>
          <pc:sldMk cId="2670393129" sldId="325"/>
        </pc:sldMkLst>
        <pc:spChg chg="mod">
          <ac:chgData name="winston.paul87@gmail.com" userId="f1da746e8ad794a0" providerId="LiveId" clId="{AD62AD2B-72AA-4363-9C0E-1EB0875D872E}" dt="2024-07-01T09:40:00.553" v="351" actId="20577"/>
          <ac:spMkLst>
            <pc:docMk/>
            <pc:sldMk cId="2670393129" sldId="325"/>
            <ac:spMk id="556" creationId="{00000000-0000-0000-0000-000000000000}"/>
          </ac:spMkLst>
        </pc:spChg>
        <pc:spChg chg="mod">
          <ac:chgData name="winston.paul87@gmail.com" userId="f1da746e8ad794a0" providerId="LiveId" clId="{AD62AD2B-72AA-4363-9C0E-1EB0875D872E}" dt="2024-07-01T09:40:31.862" v="363" actId="20577"/>
          <ac:spMkLst>
            <pc:docMk/>
            <pc:sldMk cId="2670393129" sldId="325"/>
            <ac:spMk id="557" creationId="{00000000-0000-0000-0000-000000000000}"/>
          </ac:spMkLst>
        </pc:spChg>
        <pc:spChg chg="mod">
          <ac:chgData name="winston.paul87@gmail.com" userId="f1da746e8ad794a0" providerId="LiveId" clId="{AD62AD2B-72AA-4363-9C0E-1EB0875D872E}" dt="2024-07-01T09:39:50.906" v="346" actId="20577"/>
          <ac:spMkLst>
            <pc:docMk/>
            <pc:sldMk cId="2670393129" sldId="325"/>
            <ac:spMk id="558" creationId="{00000000-0000-0000-0000-000000000000}"/>
          </ac:spMkLst>
        </pc:spChg>
      </pc:sldChg>
      <pc:sldChg chg="addSp delSp modSp new mod">
        <pc:chgData name="winston.paul87@gmail.com" userId="f1da746e8ad794a0" providerId="LiveId" clId="{AD62AD2B-72AA-4363-9C0E-1EB0875D872E}" dt="2024-07-03T11:18:20.568" v="499" actId="1076"/>
        <pc:sldMkLst>
          <pc:docMk/>
          <pc:sldMk cId="1749689353" sldId="326"/>
        </pc:sldMkLst>
        <pc:spChg chg="mod">
          <ac:chgData name="winston.paul87@gmail.com" userId="f1da746e8ad794a0" providerId="LiveId" clId="{AD62AD2B-72AA-4363-9C0E-1EB0875D872E}" dt="2024-07-03T11:17:16.750" v="493" actId="20577"/>
          <ac:spMkLst>
            <pc:docMk/>
            <pc:sldMk cId="1749689353" sldId="326"/>
            <ac:spMk id="2" creationId="{7D2B1FEB-F6DF-E600-7EFA-A4426CAABEA9}"/>
          </ac:spMkLst>
        </pc:spChg>
        <pc:spChg chg="del">
          <ac:chgData name="winston.paul87@gmail.com" userId="f1da746e8ad794a0" providerId="LiveId" clId="{AD62AD2B-72AA-4363-9C0E-1EB0875D872E}" dt="2024-07-03T11:17:19.151" v="494" actId="478"/>
          <ac:spMkLst>
            <pc:docMk/>
            <pc:sldMk cId="1749689353" sldId="326"/>
            <ac:spMk id="3" creationId="{DC4C200A-68B0-49A9-D823-681A16060D55}"/>
          </ac:spMkLst>
        </pc:spChg>
        <pc:picChg chg="add mod">
          <ac:chgData name="winston.paul87@gmail.com" userId="f1da746e8ad794a0" providerId="LiveId" clId="{AD62AD2B-72AA-4363-9C0E-1EB0875D872E}" dt="2024-07-03T11:18:20.568" v="499" actId="1076"/>
          <ac:picMkLst>
            <pc:docMk/>
            <pc:sldMk cId="1749689353" sldId="326"/>
            <ac:picMk id="6" creationId="{0AEE969E-69B5-DF1D-4790-AD159E83A4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vart.com/mysql-data-types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https://www.c-sharpcorner.com/UploadFile/65fc13/ddldml-and-dcl-in-mysql/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2571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3623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7764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It is a declarative language, meaning that users specify what data they want to retrieve or manipulate, rather than how to retrieve it.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1) SQL is a language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2) A database is a structured collection of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3) A DBMS is a software that we use to manage our databases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92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462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94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852630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https://blog.devart.com/mysql-data-types.html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852630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Decimals </a:t>
            </a:r>
            <a:r>
              <a:rPr lang="en-IN" dirty="0"/>
              <a:t>represent numbers with fractions and store exact numeric values in the column. </a:t>
            </a:r>
          </a:p>
          <a:p>
            <a:r>
              <a:rPr lang="en-IN" dirty="0"/>
              <a:t>Usually used for columns that store monetary value.</a:t>
            </a:r>
          </a:p>
          <a:p>
            <a:r>
              <a:rPr lang="en-IN" dirty="0"/>
              <a:t>In the comparison with the floating-point numbers, decimals are more accurate.</a:t>
            </a:r>
          </a:p>
          <a:p>
            <a:endParaRPr lang="en-IN" dirty="0"/>
          </a:p>
          <a:p>
            <a:r>
              <a:rPr lang="en-IN" dirty="0"/>
              <a:t>Floating-point represent numbers with fractions but do not store exact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1636110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IN" dirty="0"/>
              <a:t>https://www.javatpoint.com/mysql-boolean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30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8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err="1"/>
              <a:t>mysql</a:t>
            </a:r>
            <a:r>
              <a:rPr lang="en-IN" b="1" dirty="0"/>
              <a:t> -u root -p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76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MySQL, for instance, you would use SELECT DATABASE(); directly to get the current database name without needing a DUAL table.</a:t>
            </a:r>
          </a:p>
          <a:p>
            <a:r>
              <a:rPr lang="en-US"/>
              <a:t>DUAL is a special one-row, one-column table in Oracle databases that is used for selecting pseudo-columns like SYSDATE or testing expressions.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861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https://chartio.com/resources/tutorials/how-to-rename-a-database-in-mysql/</a:t>
            </a:r>
          </a:p>
        </p:txBody>
      </p:sp>
    </p:spTree>
    <p:extLst>
      <p:ext uri="{BB962C8B-B14F-4D97-AF65-F5344CB8AC3E}">
        <p14:creationId xmlns:p14="http://schemas.microsoft.com/office/powerpoint/2010/main" val="3888422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76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557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IN" dirty="0"/>
              <a:t>https://www.javatpoint.com/mysql-boolean</a:t>
            </a:r>
          </a:p>
        </p:txBody>
      </p:sp>
    </p:spTree>
    <p:extLst>
      <p:ext uri="{BB962C8B-B14F-4D97-AF65-F5344CB8AC3E}">
        <p14:creationId xmlns:p14="http://schemas.microsoft.com/office/powerpoint/2010/main" val="2635147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685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007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https://www.javatpoint.com/mysql-rename-column</a:t>
            </a:r>
          </a:p>
        </p:txBody>
      </p:sp>
    </p:spTree>
    <p:extLst>
      <p:ext uri="{BB962C8B-B14F-4D97-AF65-F5344CB8AC3E}">
        <p14:creationId xmlns:p14="http://schemas.microsoft.com/office/powerpoint/2010/main" val="793509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https://www.techonthenet.com/mysql/unique.php</a:t>
            </a:r>
          </a:p>
        </p:txBody>
      </p:sp>
    </p:spTree>
    <p:extLst>
      <p:ext uri="{BB962C8B-B14F-4D97-AF65-F5344CB8AC3E}">
        <p14:creationId xmlns:p14="http://schemas.microsoft.com/office/powerpoint/2010/main" val="668863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173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8371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https://www.educba.com/mysql-constraints/</a:t>
            </a:r>
          </a:p>
        </p:txBody>
      </p:sp>
    </p:spTree>
    <p:extLst>
      <p:ext uri="{BB962C8B-B14F-4D97-AF65-F5344CB8AC3E}">
        <p14:creationId xmlns:p14="http://schemas.microsoft.com/office/powerpoint/2010/main" val="1915731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492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894393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3514025"/>
            <a:ext cx="889200" cy="395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3899768"/>
            <a:ext cx="6589087" cy="2703024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3828197"/>
            <a:ext cx="4094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5300599"/>
            <a:ext cx="4094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8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6" r:id="rId4"/>
    <p:sldLayoutId id="2147483658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rtio.com/resources/tutorials/how-to-rename-a-database-in-mysql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SQL &amp; MySQL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AGENDA</a:t>
            </a:r>
            <a:endParaRPr sz="2400"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4" y="765489"/>
            <a:ext cx="309041" cy="537497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32" y="1772816"/>
            <a:ext cx="5413909" cy="4608512"/>
          </a:xfrm>
        </p:spPr>
        <p:txBody>
          <a:bodyPr/>
          <a:lstStyle/>
          <a:p>
            <a:pPr>
              <a:lnSpc>
                <a:spcPct val="200000"/>
              </a:lnSpc>
              <a:buClrTx/>
            </a:pPr>
            <a:r>
              <a:rPr lang="en-IN" sz="2100" dirty="0"/>
              <a:t>What is SQL?</a:t>
            </a:r>
          </a:p>
          <a:p>
            <a:pPr>
              <a:lnSpc>
                <a:spcPct val="200000"/>
              </a:lnSpc>
              <a:buClrTx/>
            </a:pPr>
            <a:r>
              <a:rPr lang="en-IN" sz="2100" dirty="0"/>
              <a:t>Various parts of SQL</a:t>
            </a:r>
          </a:p>
          <a:p>
            <a:pPr>
              <a:lnSpc>
                <a:spcPct val="200000"/>
              </a:lnSpc>
              <a:buClrTx/>
            </a:pPr>
            <a:r>
              <a:rPr lang="en-IN" sz="2100" dirty="0"/>
              <a:t>Introduction to MySQL</a:t>
            </a:r>
          </a:p>
          <a:p>
            <a:pPr>
              <a:lnSpc>
                <a:spcPct val="200000"/>
              </a:lnSpc>
              <a:buClrTx/>
            </a:pPr>
            <a:r>
              <a:rPr lang="en-IN" sz="2100" dirty="0"/>
              <a:t>Data types of </a:t>
            </a:r>
            <a:r>
              <a:rPr lang="en-IN" sz="2100" dirty="0" err="1"/>
              <a:t>Mysql</a:t>
            </a:r>
            <a:endParaRPr lang="en-IN" sz="2100" dirty="0"/>
          </a:p>
          <a:p>
            <a:pPr>
              <a:lnSpc>
                <a:spcPct val="200000"/>
              </a:lnSpc>
              <a:buClrTx/>
            </a:pPr>
            <a:r>
              <a:rPr lang="en-IN" sz="2100" b="1" dirty="0"/>
              <a:t>SQL:</a:t>
            </a:r>
            <a:r>
              <a:rPr lang="en-IN" sz="2100" dirty="0"/>
              <a:t> DDL Commands</a:t>
            </a:r>
          </a:p>
          <a:p>
            <a:pPr>
              <a:lnSpc>
                <a:spcPct val="200000"/>
              </a:lnSpc>
              <a:buClrTx/>
            </a:pPr>
            <a:r>
              <a:rPr lang="en-IN" sz="2100" dirty="0"/>
              <a:t>Constraints</a:t>
            </a:r>
          </a:p>
        </p:txBody>
      </p:sp>
      <p:grpSp>
        <p:nvGrpSpPr>
          <p:cNvPr id="25" name="Google Shape;250;p17"/>
          <p:cNvGrpSpPr/>
          <p:nvPr/>
        </p:nvGrpSpPr>
        <p:grpSpPr>
          <a:xfrm>
            <a:off x="6280382" y="2202989"/>
            <a:ext cx="1588639" cy="2118207"/>
            <a:chOff x="6643075" y="3664250"/>
            <a:chExt cx="407950" cy="407975"/>
          </a:xfrm>
        </p:grpSpPr>
        <p:sp>
          <p:nvSpPr>
            <p:cNvPr id="26" name="Google Shape;251;p17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2;p17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53;p17"/>
          <p:cNvGrpSpPr/>
          <p:nvPr/>
        </p:nvGrpSpPr>
        <p:grpSpPr>
          <a:xfrm rot="-587363">
            <a:off x="6187152" y="4597202"/>
            <a:ext cx="653127" cy="870845"/>
            <a:chOff x="576250" y="4319400"/>
            <a:chExt cx="442075" cy="442050"/>
          </a:xfrm>
        </p:grpSpPr>
        <p:sp>
          <p:nvSpPr>
            <p:cNvPr id="29" name="Google Shape;254;p1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;p17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6;p17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7;p17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58;p17"/>
          <p:cNvSpPr/>
          <p:nvPr/>
        </p:nvSpPr>
        <p:spPr>
          <a:xfrm>
            <a:off x="5900624" y="2692016"/>
            <a:ext cx="248336" cy="31616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59;p17"/>
          <p:cNvSpPr/>
          <p:nvPr/>
        </p:nvSpPr>
        <p:spPr>
          <a:xfrm rot="2697322">
            <a:off x="7536980" y="4310509"/>
            <a:ext cx="376961" cy="479915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60;p17"/>
          <p:cNvSpPr/>
          <p:nvPr/>
        </p:nvSpPr>
        <p:spPr>
          <a:xfrm>
            <a:off x="7835192" y="4036547"/>
            <a:ext cx="150972" cy="19230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261;p17"/>
          <p:cNvSpPr/>
          <p:nvPr/>
        </p:nvSpPr>
        <p:spPr>
          <a:xfrm rot="1280149">
            <a:off x="5728591" y="3645600"/>
            <a:ext cx="150975" cy="192272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4" y="3828197"/>
            <a:ext cx="504458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SQL Fundamentals</a:t>
            </a:r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755576" y="5300599"/>
            <a:ext cx="4104455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Aft>
                <a:spcPts val="1000"/>
              </a:spcAft>
              <a:buFont typeface="Wingdings" pitchFamily="2" charset="2"/>
              <a:buChar char="§"/>
            </a:pPr>
            <a:r>
              <a:rPr lang="en-IN" dirty="0"/>
              <a:t>Structured Query Language</a:t>
            </a:r>
            <a:endParaRPr dirty="0"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4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94162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492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400" dirty="0"/>
              <a:t>What is SQL?</a:t>
            </a:r>
            <a:endParaRPr sz="2400"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4" y="2132856"/>
            <a:ext cx="7790173" cy="38309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b="1" dirty="0"/>
              <a:t>Full Form: </a:t>
            </a:r>
            <a:r>
              <a:rPr lang="en-IN" sz="2000" i="1" dirty="0"/>
              <a:t>“Structured Query Language”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SQL is a programming language designed for managing and manipulating data stored in relational databases.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SQL provides a standardized syntax and set of commands for creating, querying, modifying, and managing the data within a database.</a:t>
            </a:r>
            <a:endParaRPr sz="20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/>
              <a:t>Various parts of 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628800"/>
            <a:ext cx="6278005" cy="5229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000" b="1" i="1" dirty="0"/>
              <a:t>SQL </a:t>
            </a:r>
            <a:r>
              <a:rPr lang="en-IN" sz="2000" i="1" dirty="0"/>
              <a:t>Commands are classified as,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Data Definition Language (DDL)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Data Manipulation Language (DML)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Data Query Language (DQL)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Data Control Language (DCL)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Transaction Control Language (TCL)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View definition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Embedded SQL and dynamic SQL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Integrity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Authorization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pSp>
        <p:nvGrpSpPr>
          <p:cNvPr id="5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6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1786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D31A5C-6902-7FE5-D533-00929489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Cont...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FA799B1-E437-A490-4F55-E0FB6F8AC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628800"/>
            <a:ext cx="7903287" cy="49685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sz="2000" b="1" dirty="0"/>
              <a:t>Data Definition Language (DDL)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/>
              <a:t>	Commands for defining and managing database structures.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000" b="1" dirty="0"/>
              <a:t>Data Manipulation Language (DML)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/>
              <a:t>	Commands for working with data.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000" b="1" dirty="0"/>
              <a:t>Data Query Language (DML)</a:t>
            </a:r>
          </a:p>
          <a:p>
            <a:pPr marL="76200" indent="0">
              <a:lnSpc>
                <a:spcPct val="150000"/>
              </a:lnSpc>
              <a:buSzPct val="100000"/>
              <a:buNone/>
            </a:pPr>
            <a:r>
              <a:rPr lang="en-US" sz="2000" b="1" dirty="0"/>
              <a:t>	</a:t>
            </a:r>
            <a:r>
              <a:rPr lang="en-US" sz="2000" dirty="0"/>
              <a:t>Commands for retrieving data.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000" b="1" dirty="0"/>
              <a:t>Data Control Language (DCL)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/>
              <a:t>	Commands for managing access and permissions of data.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000" b="1" dirty="0"/>
              <a:t>Transaction Control Language (TCL)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sz="2100" dirty="0"/>
              <a:t>Commands used to manage transactions within a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1FBDA5-D118-507B-B540-58CA890E96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53264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4" y="3828197"/>
            <a:ext cx="504458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MYSQL</a:t>
            </a:r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755576" y="5300599"/>
            <a:ext cx="4104455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Aft>
                <a:spcPts val="1000"/>
              </a:spcAft>
              <a:buFont typeface="Wingdings" pitchFamily="2" charset="2"/>
              <a:buChar char="§"/>
            </a:pPr>
            <a:r>
              <a:rPr lang="en-IN" dirty="0"/>
              <a:t>Fundamentals</a:t>
            </a:r>
            <a:endParaRPr dirty="0"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4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7039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523433"/>
            <a:ext cx="5328592" cy="1021600"/>
          </a:xfrm>
        </p:spPr>
        <p:txBody>
          <a:bodyPr/>
          <a:lstStyle/>
          <a:p>
            <a:r>
              <a:rPr lang="en-IN" sz="2400" dirty="0"/>
              <a:t>Introduction to MySQL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6264696" cy="48275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MySQL is an open source relational database management system based on SQL.</a:t>
            </a:r>
          </a:p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It was designed and optimized for web applications and can run on any platform.</a:t>
            </a:r>
          </a:p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In general, </a:t>
            </a:r>
            <a:r>
              <a:rPr lang="en-IN" sz="2000" dirty="0" err="1"/>
              <a:t>mysql</a:t>
            </a:r>
            <a:r>
              <a:rPr lang="en-IN" sz="2000" dirty="0"/>
              <a:t> is not case 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3091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523433"/>
            <a:ext cx="5328592" cy="1021600"/>
          </a:xfrm>
        </p:spPr>
        <p:txBody>
          <a:bodyPr/>
          <a:lstStyle/>
          <a:p>
            <a:r>
              <a:rPr lang="en-IN" sz="2400" dirty="0"/>
              <a:t>Data Types of SQL in </a:t>
            </a:r>
            <a:r>
              <a:rPr lang="en-IN" sz="2400" dirty="0" err="1"/>
              <a:t>Mysql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5472608" cy="48275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Commonly used data types are,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Numeric Data Types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String Data Types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Date and Time Data Types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Boolean Data Type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Binary Data Types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JSON Data Type</a:t>
            </a:r>
          </a:p>
          <a:p>
            <a:pPr marL="1447800" lvl="2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Spatial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1169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23433"/>
            <a:ext cx="5767123" cy="1021600"/>
          </a:xfrm>
        </p:spPr>
        <p:txBody>
          <a:bodyPr/>
          <a:lstStyle/>
          <a:p>
            <a:r>
              <a:rPr lang="en-IN" sz="2400" dirty="0"/>
              <a:t>1. Numeric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584" y="1772816"/>
            <a:ext cx="7992888" cy="4824536"/>
          </a:xfrm>
        </p:spPr>
        <p:txBody>
          <a:bodyPr/>
          <a:lstStyle/>
          <a:p>
            <a:pPr marL="533400" indent="-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1800" dirty="0">
                <a:latin typeface="Arial Narrow" panose="020B0606020202030204" pitchFamily="34" charset="0"/>
              </a:rPr>
              <a:t>Integers (int)</a:t>
            </a:r>
          </a:p>
          <a:p>
            <a:pPr marL="809625" indent="-176213">
              <a:lnSpc>
                <a:spcPct val="150000"/>
              </a:lnSpc>
              <a:spcBef>
                <a:spcPts val="0"/>
              </a:spcBef>
              <a:buClrTx/>
              <a:buSzPct val="100000"/>
            </a:pPr>
            <a:r>
              <a:rPr lang="en-IN" sz="1800" dirty="0">
                <a:latin typeface="Arial Narrow" panose="020B0606020202030204" pitchFamily="34" charset="0"/>
              </a:rPr>
              <a:t>  </a:t>
            </a:r>
            <a:r>
              <a:rPr lang="en-IN" sz="1800" b="1" dirty="0" err="1">
                <a:latin typeface="Arial Narrow" panose="020B0606020202030204" pitchFamily="34" charset="0"/>
              </a:rPr>
              <a:t>tinyint</a:t>
            </a:r>
            <a:r>
              <a:rPr lang="en-IN" sz="1800" dirty="0">
                <a:latin typeface="Arial Narrow" panose="020B0606020202030204" pitchFamily="34" charset="0"/>
              </a:rPr>
              <a:t> (1b) | </a:t>
            </a:r>
            <a:r>
              <a:rPr lang="en-IN" sz="1800" b="1" dirty="0" err="1">
                <a:latin typeface="Arial Narrow" panose="020B0606020202030204" pitchFamily="34" charset="0"/>
              </a:rPr>
              <a:t>smallint</a:t>
            </a:r>
            <a:r>
              <a:rPr lang="en-IN" sz="1800" b="1" dirty="0">
                <a:latin typeface="Arial Narrow" panose="020B0606020202030204" pitchFamily="34" charset="0"/>
              </a:rPr>
              <a:t> </a:t>
            </a:r>
            <a:r>
              <a:rPr lang="en-IN" sz="1800" dirty="0">
                <a:latin typeface="Arial Narrow" panose="020B0606020202030204" pitchFamily="34" charset="0"/>
              </a:rPr>
              <a:t>(2b) | </a:t>
            </a:r>
            <a:r>
              <a:rPr lang="en-IN" sz="1800" b="1" dirty="0" err="1">
                <a:latin typeface="Arial Narrow" panose="020B0606020202030204" pitchFamily="34" charset="0"/>
              </a:rPr>
              <a:t>mediumint</a:t>
            </a:r>
            <a:r>
              <a:rPr lang="en-IN" sz="1800" b="1" dirty="0">
                <a:latin typeface="Arial Narrow" panose="020B0606020202030204" pitchFamily="34" charset="0"/>
              </a:rPr>
              <a:t> (</a:t>
            </a:r>
            <a:r>
              <a:rPr lang="en-IN" sz="1800" dirty="0">
                <a:latin typeface="Arial Narrow" panose="020B0606020202030204" pitchFamily="34" charset="0"/>
              </a:rPr>
              <a:t>3b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  <a:r>
              <a:rPr lang="en-IN" sz="1800" dirty="0">
                <a:latin typeface="Arial Narrow" panose="020B0606020202030204" pitchFamily="34" charset="0"/>
              </a:rPr>
              <a:t> | </a:t>
            </a:r>
            <a:r>
              <a:rPr lang="en-IN" sz="1800" b="1" dirty="0">
                <a:latin typeface="Arial Narrow" panose="020B0606020202030204" pitchFamily="34" charset="0"/>
              </a:rPr>
              <a:t>int (</a:t>
            </a:r>
            <a:r>
              <a:rPr lang="en-IN" sz="1800" dirty="0">
                <a:latin typeface="Arial Narrow" panose="020B0606020202030204" pitchFamily="34" charset="0"/>
              </a:rPr>
              <a:t>4b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  <a:r>
              <a:rPr lang="en-IN" sz="1800" dirty="0">
                <a:latin typeface="Arial Narrow" panose="020B0606020202030204" pitchFamily="34" charset="0"/>
              </a:rPr>
              <a:t> | </a:t>
            </a:r>
            <a:r>
              <a:rPr lang="en-IN" sz="1800" b="1" dirty="0" err="1">
                <a:latin typeface="Arial Narrow" panose="020B0606020202030204" pitchFamily="34" charset="0"/>
              </a:rPr>
              <a:t>bigint</a:t>
            </a:r>
            <a:r>
              <a:rPr lang="en-IN" sz="1800" b="1" dirty="0">
                <a:latin typeface="Arial Narrow" panose="020B0606020202030204" pitchFamily="34" charset="0"/>
              </a:rPr>
              <a:t> (</a:t>
            </a:r>
            <a:r>
              <a:rPr lang="en-IN" sz="1800" dirty="0">
                <a:latin typeface="Arial Narrow" panose="020B0606020202030204" pitchFamily="34" charset="0"/>
              </a:rPr>
              <a:t>8b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</a:p>
          <a:p>
            <a:pPr marL="809625" indent="-176213">
              <a:lnSpc>
                <a:spcPct val="150000"/>
              </a:lnSpc>
              <a:spcBef>
                <a:spcPts val="0"/>
              </a:spcBef>
              <a:buClrTx/>
              <a:buSzPct val="100000"/>
            </a:pPr>
            <a:r>
              <a:rPr lang="en-IN" sz="1800" dirty="0">
                <a:latin typeface="Arial Narrow" panose="020B0606020202030204" pitchFamily="34" charset="0"/>
              </a:rPr>
              <a:t>  </a:t>
            </a:r>
            <a:r>
              <a:rPr lang="en-IN" sz="1800" b="1" dirty="0">
                <a:solidFill>
                  <a:srgbClr val="C00000"/>
                </a:solidFill>
                <a:latin typeface="Arial Narrow" panose="020B0606020202030204" pitchFamily="34" charset="0"/>
              </a:rPr>
              <a:t>Attributes:</a:t>
            </a:r>
            <a:r>
              <a:rPr lang="en-IN" sz="1800" dirty="0">
                <a:latin typeface="Arial Narrow" panose="020B0606020202030204" pitchFamily="34" charset="0"/>
              </a:rPr>
              <a:t> ZEROFILL, AUTO</a:t>
            </a:r>
            <a:r>
              <a:rPr lang="en-IN" sz="1800" dirty="0">
                <a:latin typeface="Arial Narrow" panose="020B0606020202030204" pitchFamily="34" charset="0"/>
                <a:cs typeface="Raavi"/>
              </a:rPr>
              <a:t>_</a:t>
            </a:r>
            <a:r>
              <a:rPr lang="en-IN" sz="1800" dirty="0">
                <a:latin typeface="Arial Narrow" panose="020B0606020202030204" pitchFamily="34" charset="0"/>
              </a:rPr>
              <a:t>INCREMENT, UNSIGNED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 startAt="2"/>
            </a:pPr>
            <a:r>
              <a:rPr lang="en-IN" sz="1800" dirty="0">
                <a:latin typeface="Arial Narrow" panose="020B0606020202030204" pitchFamily="34" charset="0"/>
              </a:rPr>
              <a:t>Floating-point (Should not be </a:t>
            </a:r>
            <a:r>
              <a:rPr lang="en-IN" sz="1800" b="1" dirty="0">
                <a:latin typeface="Arial Narrow" panose="020B0606020202030204" pitchFamily="34" charset="0"/>
              </a:rPr>
              <a:t>UNSIGNED</a:t>
            </a:r>
            <a:r>
              <a:rPr lang="en-IN" sz="1800" dirty="0">
                <a:latin typeface="Arial Narrow" panose="020B0606020202030204" pitchFamily="34" charset="0"/>
              </a:rPr>
              <a:t>)</a:t>
            </a:r>
          </a:p>
          <a:p>
            <a:pPr marL="990600" lvl="1" indent="-35718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+mj-lt"/>
              <a:buAutoNum type="alphaLcParenR"/>
            </a:pPr>
            <a:r>
              <a:rPr lang="en-IN" sz="1800" b="1" dirty="0">
                <a:latin typeface="Arial Narrow" panose="020B0606020202030204" pitchFamily="34" charset="0"/>
              </a:rPr>
              <a:t>float (</a:t>
            </a:r>
            <a:r>
              <a:rPr lang="en-IN" sz="1800" b="1" dirty="0" err="1">
                <a:latin typeface="Arial Narrow" panose="020B0606020202030204" pitchFamily="34" charset="0"/>
              </a:rPr>
              <a:t>m,d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</a:p>
          <a:p>
            <a:pPr marL="990600" lvl="1" indent="-357188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lphaLcParenR"/>
            </a:pPr>
            <a:r>
              <a:rPr lang="en-IN" sz="1800" b="1" dirty="0">
                <a:latin typeface="Arial Narrow" panose="020B0606020202030204" pitchFamily="34" charset="0"/>
              </a:rPr>
              <a:t>double (</a:t>
            </a:r>
            <a:r>
              <a:rPr lang="en-IN" sz="1800" b="1" dirty="0" err="1">
                <a:latin typeface="Arial Narrow" panose="020B0606020202030204" pitchFamily="34" charset="0"/>
              </a:rPr>
              <a:t>m,d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</a:p>
          <a:p>
            <a:pPr marL="533400" indent="-457200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+mj-lt"/>
              <a:buAutoNum type="arabicPeriod" startAt="2"/>
            </a:pPr>
            <a:r>
              <a:rPr lang="en-IN" sz="1800" dirty="0">
                <a:latin typeface="Arial Narrow" panose="020B0606020202030204" pitchFamily="34" charset="0"/>
              </a:rPr>
              <a:t>Decimal [</a:t>
            </a:r>
            <a:r>
              <a:rPr lang="en-IN" sz="1800" b="1" dirty="0">
                <a:latin typeface="Arial Narrow" panose="020B0606020202030204" pitchFamily="34" charset="0"/>
              </a:rPr>
              <a:t>decimal(</a:t>
            </a:r>
            <a:r>
              <a:rPr lang="en-IN" sz="1800" b="1" dirty="0" err="1">
                <a:latin typeface="Arial Narrow" panose="020B0606020202030204" pitchFamily="34" charset="0"/>
              </a:rPr>
              <a:t>m,d</a:t>
            </a:r>
            <a:r>
              <a:rPr lang="en-IN" sz="1800" b="1" dirty="0">
                <a:latin typeface="Arial Narrow" panose="020B0606020202030204" pitchFamily="34" charset="0"/>
              </a:rPr>
              <a:t>)</a:t>
            </a:r>
            <a:r>
              <a:rPr lang="en-IN" sz="1800" dirty="0">
                <a:latin typeface="Arial Narrow" panose="020B0606020202030204" pitchFamily="34" charset="0"/>
              </a:rPr>
              <a:t>]</a:t>
            </a:r>
          </a:p>
          <a:p>
            <a:pPr marL="1257300" lvl="2" indent="-266700">
              <a:lnSpc>
                <a:spcPct val="150000"/>
              </a:lnSpc>
              <a:spcBef>
                <a:spcPts val="0"/>
              </a:spcBef>
              <a:buClrTx/>
              <a:buSzPct val="100000"/>
            </a:pPr>
            <a:r>
              <a:rPr lang="en-IN" sz="1800" dirty="0">
                <a:latin typeface="Arial Narrow" panose="020B0606020202030204" pitchFamily="34" charset="0"/>
              </a:rPr>
              <a:t>Should not be </a:t>
            </a:r>
            <a:r>
              <a:rPr lang="en-IN" sz="1800" b="1" dirty="0">
                <a:latin typeface="Arial Narrow" panose="020B0606020202030204" pitchFamily="34" charset="0"/>
              </a:rPr>
              <a:t>UNSIGNED</a:t>
            </a:r>
          </a:p>
          <a:p>
            <a:pPr marL="7620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Where,</a:t>
            </a:r>
          </a:p>
          <a:p>
            <a:pPr marL="6286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Symbol" panose="05050102010706020507" pitchFamily="18" charset="2"/>
              <a:buChar char="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 is the total number of digits (precision).</a:t>
            </a:r>
          </a:p>
          <a:p>
            <a:pPr marL="6286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Symbol" panose="05050102010706020507" pitchFamily="18" charset="2"/>
              <a:buChar char="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 is the number of digits after the decimal point (scale).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378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2B1FEB-F6DF-E600-7EFA-A4426CAA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7191CF5-E74F-777C-1154-7E8F632FAA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AEE969E-69B5-DF1D-4790-AD159E83A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564904"/>
            <a:ext cx="6761897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89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23433"/>
            <a:ext cx="5767123" cy="1021600"/>
          </a:xfrm>
        </p:spPr>
        <p:txBody>
          <a:bodyPr/>
          <a:lstStyle/>
          <a:p>
            <a:r>
              <a:rPr lang="en-IN" sz="2400" dirty="0"/>
              <a:t>2. String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899296"/>
            <a:ext cx="6132600" cy="41940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b="1" dirty="0"/>
              <a:t>VARCHAR(size): </a:t>
            </a:r>
            <a:r>
              <a:rPr lang="en-IN" sz="2000" dirty="0"/>
              <a:t>Variable-length string with a maximum size specified.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b="1" dirty="0"/>
              <a:t>CHAR(size):</a:t>
            </a:r>
            <a:r>
              <a:rPr lang="en-IN" sz="2000" dirty="0"/>
              <a:t> Fixed-length string with a specified size.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b="1" dirty="0"/>
              <a:t>TEXT:</a:t>
            </a:r>
            <a:r>
              <a:rPr lang="en-IN" sz="2000" dirty="0"/>
              <a:t> For larger text data.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b="1" dirty="0"/>
              <a:t>ENUM(value1, value2, ...):</a:t>
            </a:r>
            <a:r>
              <a:rPr lang="en-IN" sz="2000" dirty="0"/>
              <a:t> Defines a set of enumerated values to choose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38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23433"/>
            <a:ext cx="5695115" cy="1021600"/>
          </a:xfrm>
        </p:spPr>
        <p:txBody>
          <a:bodyPr/>
          <a:lstStyle/>
          <a:p>
            <a:r>
              <a:rPr lang="en-IN" sz="2400" dirty="0"/>
              <a:t>3. Date and Time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8150214" cy="41940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000" b="1" dirty="0"/>
              <a:t>DATE: </a:t>
            </a:r>
            <a:r>
              <a:rPr lang="en-IN" sz="2000" dirty="0"/>
              <a:t>Represents a date value (YYYY-MM-DD).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TIME: </a:t>
            </a:r>
            <a:r>
              <a:rPr lang="en-IN" sz="2000" dirty="0"/>
              <a:t>Represents a time value (HH:MM:SS).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DATETIME: </a:t>
            </a:r>
            <a:r>
              <a:rPr lang="en-IN" sz="2000" dirty="0"/>
              <a:t>Represents a date and time value (YYYY-MM-DD HH:MM:SS).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TIMESTAMP: </a:t>
            </a:r>
            <a:r>
              <a:rPr lang="en-IN" sz="2000" dirty="0"/>
              <a:t>Represents a timestamp value (stored as UTC).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0961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3. Boolean Data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6350013" cy="41940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b="1" dirty="0"/>
              <a:t>BOOLEAN </a:t>
            </a:r>
            <a:r>
              <a:rPr lang="en-IN" sz="2000" dirty="0"/>
              <a:t>or</a:t>
            </a:r>
            <a:r>
              <a:rPr lang="en-IN" sz="2000" b="1" dirty="0"/>
              <a:t> BOOL </a:t>
            </a:r>
            <a:r>
              <a:rPr lang="en-IN" sz="2000" dirty="0"/>
              <a:t>:</a:t>
            </a:r>
            <a:r>
              <a:rPr lang="en-IN" sz="2000" b="1" dirty="0"/>
              <a:t> </a:t>
            </a:r>
            <a:r>
              <a:rPr lang="en-IN" sz="2000" dirty="0"/>
              <a:t>Represents true or false values.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True : 1, False : 0 (Case Insensitive)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MySQL does not have a </a:t>
            </a:r>
            <a:r>
              <a:rPr lang="en-IN" sz="2000" dirty="0" err="1"/>
              <a:t>boolean</a:t>
            </a:r>
            <a:r>
              <a:rPr lang="en-IN" sz="2000" dirty="0"/>
              <a:t> (or bool) data type. Instead, it converts </a:t>
            </a:r>
            <a:r>
              <a:rPr lang="en-IN" sz="2000" dirty="0" err="1"/>
              <a:t>boolean</a:t>
            </a:r>
            <a:r>
              <a:rPr lang="en-IN" sz="2000" dirty="0"/>
              <a:t> values into integer data types (TINYINT)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80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4. Binary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/>
              <a:t>BLOB: </a:t>
            </a:r>
            <a:r>
              <a:rPr lang="en-IN" sz="2000" dirty="0"/>
              <a:t>Binary large object for storing large binary data.</a:t>
            </a:r>
          </a:p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VARBINARY(size): </a:t>
            </a:r>
            <a:r>
              <a:rPr lang="en-IN" sz="2000" dirty="0"/>
              <a:t>Variable-length binary data with a maximum size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4069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5. JSON Data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b="1" dirty="0"/>
              <a:t>JSON: </a:t>
            </a:r>
            <a:r>
              <a:rPr lang="en-IN" sz="2000" dirty="0"/>
              <a:t>Stores JSON (JavaScript Object Notation)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085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6. Spatial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6854069" cy="41940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000" b="1" dirty="0"/>
              <a:t>GEOMETRY: </a:t>
            </a:r>
            <a:r>
              <a:rPr lang="en-IN" sz="2000" dirty="0"/>
              <a:t>Represents geometric spatial objects.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POINT: </a:t>
            </a:r>
            <a:r>
              <a:rPr lang="en-IN" sz="2000" dirty="0"/>
              <a:t>Represents a point in a coordinate system.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LINESTRING: </a:t>
            </a:r>
            <a:r>
              <a:rPr lang="en-IN" sz="2000" dirty="0"/>
              <a:t>Represents a sequence of points forming a line.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POLYGON: </a:t>
            </a:r>
            <a:r>
              <a:rPr lang="en-IN" sz="2000" dirty="0"/>
              <a:t>Represents a polygonal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3491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4" y="3828197"/>
            <a:ext cx="504458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Data-definition language (DDL)</a:t>
            </a:r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755576" y="5300599"/>
            <a:ext cx="4104455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Aft>
                <a:spcPts val="1000"/>
              </a:spcAft>
              <a:buFont typeface="Wingdings" pitchFamily="2" charset="2"/>
              <a:buChar char="§"/>
            </a:pPr>
            <a:r>
              <a:rPr lang="en-IN" dirty="0"/>
              <a:t>create, modify, and delete database objects such as tables, indexes, views, and schemas.</a:t>
            </a:r>
            <a:endParaRPr dirty="0"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4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35842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Commands for Database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6566038" cy="4827552"/>
          </a:xfrm>
          <a:ln>
            <a:noFill/>
          </a:ln>
        </p:spPr>
        <p:txBody>
          <a:bodyPr>
            <a:normAutofit/>
          </a:bodyPr>
          <a:lstStyle/>
          <a:p>
            <a:pPr marL="53340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CREATE DATABASE &lt;</a:t>
            </a:r>
            <a:r>
              <a:rPr lang="en-IN" sz="2000" dirty="0">
                <a:latin typeface="Cambria" pitchFamily="18" charset="0"/>
              </a:rPr>
              <a:t>database</a:t>
            </a:r>
            <a:r>
              <a:rPr lang="en-IN" sz="2000" dirty="0">
                <a:latin typeface="Cambria" pitchFamily="18" charset="0"/>
                <a:cs typeface="Raavi"/>
              </a:rPr>
              <a:t>_</a:t>
            </a:r>
            <a:r>
              <a:rPr lang="en-IN" sz="2000" dirty="0">
                <a:latin typeface="Cambria" pitchFamily="18" charset="0"/>
              </a:rPr>
              <a:t>name&gt;;</a:t>
            </a:r>
          </a:p>
          <a:p>
            <a:pPr marL="533400" lvl="1" indent="0">
              <a:lnSpc>
                <a:spcPct val="11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	Ex:</a:t>
            </a:r>
          </a:p>
          <a:p>
            <a:pPr marL="533400" lvl="1" indent="0">
              <a:lnSpc>
                <a:spcPct val="11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IN" sz="2000" dirty="0">
                <a:latin typeface="Cambria" pitchFamily="18" charset="0"/>
              </a:rPr>
              <a:t>	    CREATE DATABASE </a:t>
            </a:r>
            <a:r>
              <a:rPr lang="en-IN" sz="2000" dirty="0" err="1">
                <a:latin typeface="Cambria" pitchFamily="18" charset="0"/>
              </a:rPr>
              <a:t>testDB</a:t>
            </a:r>
            <a:r>
              <a:rPr lang="en-IN" sz="2000" dirty="0">
                <a:latin typeface="Cambria" pitchFamily="18" charset="0"/>
              </a:rPr>
              <a:t>;</a:t>
            </a:r>
          </a:p>
          <a:p>
            <a:pPr marL="533400" lvl="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View all Existing Databases</a:t>
            </a:r>
            <a:endParaRPr lang="en-IN" sz="2000" dirty="0">
              <a:latin typeface="Cambria" pitchFamily="18" charset="0"/>
            </a:endParaRPr>
          </a:p>
          <a:p>
            <a:pPr marL="533400" lvl="1" indent="0">
              <a:lnSpc>
                <a:spcPct val="16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IN" sz="2000" dirty="0">
                <a:latin typeface="Cambria" pitchFamily="18" charset="0"/>
              </a:rPr>
              <a:t>	</a:t>
            </a: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SHOW</a:t>
            </a:r>
            <a:r>
              <a:rPr lang="en-IN" sz="2000" dirty="0">
                <a:solidFill>
                  <a:srgbClr val="FF0000"/>
                </a:solidFill>
                <a:latin typeface="Cambria" pitchFamily="18" charset="0"/>
              </a:rPr>
              <a:t> </a:t>
            </a:r>
            <a:r>
              <a:rPr lang="en-IN" sz="2000" dirty="0">
                <a:latin typeface="Cambria" pitchFamily="18" charset="0"/>
              </a:rPr>
              <a:t>DATABASES;</a:t>
            </a:r>
          </a:p>
          <a:p>
            <a:pPr marL="533400" lvl="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Accessing Database</a:t>
            </a:r>
            <a:endParaRPr lang="en-IN" sz="2000" dirty="0">
              <a:latin typeface="Cambria" pitchFamily="18" charset="0"/>
            </a:endParaRPr>
          </a:p>
          <a:p>
            <a:pPr marL="76200" indent="0">
              <a:lnSpc>
                <a:spcPct val="16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IN" sz="2000" dirty="0">
                <a:latin typeface="Cambria" pitchFamily="18" charset="0"/>
              </a:rPr>
              <a:t>	</a:t>
            </a: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USE</a:t>
            </a:r>
            <a:r>
              <a:rPr lang="en-IN" sz="2000" dirty="0">
                <a:solidFill>
                  <a:srgbClr val="FF0000"/>
                </a:solidFill>
                <a:latin typeface="Cambria" pitchFamily="18" charset="0"/>
              </a:rPr>
              <a:t> </a:t>
            </a:r>
            <a:r>
              <a:rPr lang="en-IN" sz="2000" dirty="0">
                <a:latin typeface="Cambria" pitchFamily="18" charset="0"/>
              </a:rPr>
              <a:t>&lt;</a:t>
            </a:r>
            <a:r>
              <a:rPr lang="en-IN" sz="2000" dirty="0" err="1">
                <a:latin typeface="Cambria" pitchFamily="18" charset="0"/>
              </a:rPr>
              <a:t>databasename</a:t>
            </a:r>
            <a:r>
              <a:rPr lang="en-IN" sz="2000" dirty="0">
                <a:latin typeface="Cambria" pitchFamily="18" charset="0"/>
              </a:rPr>
              <a:t>&gt;;</a:t>
            </a:r>
          </a:p>
          <a:p>
            <a:pPr marL="53340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 startAt="4"/>
            </a:pPr>
            <a:r>
              <a:rPr lang="en-IN" sz="2000" b="1" dirty="0">
                <a:latin typeface="Cambria" pitchFamily="18" charset="0"/>
              </a:rPr>
              <a:t>Deleting Database</a:t>
            </a:r>
          </a:p>
          <a:p>
            <a:pPr marL="76200" indent="0">
              <a:lnSpc>
                <a:spcPct val="16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IN" sz="2000" dirty="0">
                <a:latin typeface="Cambria" pitchFamily="18" charset="0"/>
              </a:rPr>
              <a:t>	</a:t>
            </a: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DROP DATABASE </a:t>
            </a:r>
            <a:r>
              <a:rPr lang="en-IN" sz="2000" dirty="0">
                <a:latin typeface="Cambria" pitchFamily="18" charset="0"/>
              </a:rPr>
              <a:t>&lt;</a:t>
            </a:r>
            <a:r>
              <a:rPr lang="en-IN" sz="2000" dirty="0" err="1">
                <a:latin typeface="Cambria" pitchFamily="18" charset="0"/>
              </a:rPr>
              <a:t>databasename</a:t>
            </a:r>
            <a:r>
              <a:rPr lang="en-IN" sz="2000" dirty="0">
                <a:latin typeface="Cambria" pitchFamily="18" charset="0"/>
              </a:rPr>
              <a:t>&gt;;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grpSp>
        <p:nvGrpSpPr>
          <p:cNvPr id="5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6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5406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63330"/>
            <a:ext cx="6300192" cy="52665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50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769800"/>
            <a:ext cx="6132600" cy="3212197"/>
          </a:xfrm>
        </p:spPr>
        <p:txBody>
          <a:bodyPr/>
          <a:lstStyle/>
          <a:p>
            <a:r>
              <a:rPr lang="en-IN" sz="2000" b="1" dirty="0">
                <a:latin typeface="Roboto Condensed" charset="0"/>
                <a:ea typeface="Roboto Condensed" charset="0"/>
              </a:rPr>
              <a:t>Clear </a:t>
            </a:r>
            <a:r>
              <a:rPr lang="en-IN" sz="2000" b="1" dirty="0" err="1">
                <a:latin typeface="Roboto Condensed" charset="0"/>
                <a:ea typeface="Roboto Condensed" charset="0"/>
              </a:rPr>
              <a:t>mysql</a:t>
            </a:r>
            <a:r>
              <a:rPr lang="en-IN" sz="2000" b="1" dirty="0">
                <a:latin typeface="Roboto Condensed" charset="0"/>
                <a:ea typeface="Roboto Condensed" charset="0"/>
              </a:rPr>
              <a:t> CMD Prompt:</a:t>
            </a:r>
          </a:p>
          <a:p>
            <a:pPr marL="990600" lvl="2" indent="0">
              <a:buNone/>
            </a:pPr>
            <a:r>
              <a:rPr lang="en-IN" sz="2000" dirty="0" err="1">
                <a:latin typeface="Roboto Condensed" charset="0"/>
                <a:ea typeface="Roboto Condensed" charset="0"/>
              </a:rPr>
              <a:t>mysql</a:t>
            </a:r>
            <a:r>
              <a:rPr lang="en-IN" sz="2000" dirty="0">
                <a:latin typeface="Roboto Condensed" charset="0"/>
                <a:ea typeface="Roboto Condensed" charset="0"/>
              </a:rPr>
              <a:t>&gt; system </a:t>
            </a:r>
            <a:r>
              <a:rPr lang="en-IN" sz="2000" dirty="0" err="1">
                <a:latin typeface="Roboto Condensed" charset="0"/>
                <a:ea typeface="Roboto Condensed" charset="0"/>
              </a:rPr>
              <a:t>cls</a:t>
            </a:r>
            <a:endParaRPr lang="en-IN" sz="2000" dirty="0">
              <a:latin typeface="Roboto Condensed" charset="0"/>
              <a:ea typeface="Roboto Condensed" charset="0"/>
            </a:endParaRPr>
          </a:p>
          <a:p>
            <a:pPr marL="990600" lvl="2" indent="0">
              <a:buNone/>
            </a:pPr>
            <a:r>
              <a:rPr lang="en-IN" sz="2000" dirty="0" err="1">
                <a:latin typeface="Cambria" pitchFamily="18" charset="0"/>
                <a:ea typeface="Roboto Condensed" charset="0"/>
              </a:rPr>
              <a:t>mysql</a:t>
            </a:r>
            <a:r>
              <a:rPr lang="en-IN" sz="2000" dirty="0">
                <a:latin typeface="Cambria" pitchFamily="18" charset="0"/>
                <a:ea typeface="Roboto Condensed" charset="0"/>
              </a:rPr>
              <a:t>&gt; \! </a:t>
            </a:r>
            <a:r>
              <a:rPr lang="en-IN" sz="2000" dirty="0" err="1">
                <a:latin typeface="Cambria" pitchFamily="18" charset="0"/>
                <a:ea typeface="Roboto Condensed" charset="0"/>
              </a:rPr>
              <a:t>cls</a:t>
            </a:r>
            <a:endParaRPr lang="en-IN" sz="2000" dirty="0">
              <a:latin typeface="Cambria" pitchFamily="18" charset="0"/>
              <a:ea typeface="Roboto Condensed" charset="0"/>
            </a:endParaRPr>
          </a:p>
          <a:p>
            <a:pPr marL="990600" lvl="2" indent="0">
              <a:buNone/>
            </a:pPr>
            <a:endParaRPr lang="en-IN" sz="2000" dirty="0">
              <a:latin typeface="Cambria" pitchFamily="18" charset="0"/>
              <a:ea typeface="Roboto Condensed" charset="0"/>
            </a:endParaRPr>
          </a:p>
          <a:p>
            <a:pPr marL="457200" lvl="2">
              <a:spcBef>
                <a:spcPts val="600"/>
              </a:spcBef>
              <a:buFont typeface="Roboto Condensed Light"/>
              <a:buChar char="▰"/>
            </a:pPr>
            <a:r>
              <a:rPr lang="en-IN" sz="2000" b="1" dirty="0">
                <a:latin typeface="Roboto Condensed" charset="0"/>
                <a:ea typeface="Roboto Condensed" charset="0"/>
              </a:rPr>
              <a:t>To check current DB</a:t>
            </a:r>
          </a:p>
          <a:p>
            <a:pPr marL="76200" lvl="2" indent="0">
              <a:spcBef>
                <a:spcPts val="600"/>
              </a:spcBef>
              <a:buNone/>
            </a:pPr>
            <a:r>
              <a:rPr lang="en-IN" sz="2000" b="1" dirty="0">
                <a:latin typeface="Roboto Condensed" charset="0"/>
                <a:ea typeface="Roboto Condensed" charset="0"/>
              </a:rPr>
              <a:t>	</a:t>
            </a:r>
            <a:r>
              <a:rPr lang="en-IN" sz="2000" dirty="0">
                <a:latin typeface="Roboto Condensed" charset="0"/>
                <a:ea typeface="Roboto Condensed" charset="0"/>
              </a:rPr>
              <a:t>SELECT DATABASE() FROM DUAL;</a:t>
            </a:r>
          </a:p>
          <a:p>
            <a:pPr marL="76200" lvl="2" indent="0">
              <a:spcBef>
                <a:spcPts val="600"/>
              </a:spcBef>
              <a:buNone/>
            </a:pPr>
            <a:endParaRPr lang="en-IN" sz="2000" b="1" dirty="0">
              <a:latin typeface="Roboto Condensed" charset="0"/>
              <a:ea typeface="Roboto Condensed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699" y="4509120"/>
            <a:ext cx="5238581" cy="172819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6760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769800"/>
            <a:ext cx="8136903" cy="4194000"/>
          </a:xfrm>
        </p:spPr>
        <p:txBody>
          <a:bodyPr/>
          <a:lstStyle/>
          <a:p>
            <a:pPr marL="457200" lvl="2">
              <a:spcBef>
                <a:spcPts val="600"/>
              </a:spcBef>
              <a:buFont typeface="Roboto Condensed Light"/>
              <a:buChar char="▰"/>
            </a:pPr>
            <a:r>
              <a:rPr lang="en-IN" sz="2000" b="1" dirty="0">
                <a:latin typeface="Roboto Condensed" charset="0"/>
                <a:ea typeface="Roboto Condensed" charset="0"/>
              </a:rPr>
              <a:t>How to rename database?</a:t>
            </a:r>
          </a:p>
          <a:p>
            <a:pPr marL="76200" lvl="2" indent="0">
              <a:spcBef>
                <a:spcPts val="600"/>
              </a:spcBef>
              <a:buNone/>
            </a:pPr>
            <a:r>
              <a:rPr lang="en-IN" sz="2000" dirty="0">
                <a:latin typeface="Roboto Condensed" charset="0"/>
                <a:ea typeface="Roboto Condensed" charset="0"/>
                <a:hlinkClick r:id="rId3"/>
              </a:rPr>
              <a:t>https://chartio.com/resources/tutorials/how-to-rename-a-database-in-mysql/</a:t>
            </a:r>
            <a:endParaRPr lang="en-IN" sz="2000" dirty="0">
              <a:latin typeface="Roboto Condensed" charset="0"/>
              <a:ea typeface="Roboto Condensed" charset="0"/>
            </a:endParaRPr>
          </a:p>
          <a:p>
            <a:pPr marL="76200" lvl="2" indent="0">
              <a:spcBef>
                <a:spcPts val="600"/>
              </a:spcBef>
              <a:buNone/>
            </a:pPr>
            <a:endParaRPr lang="en-IN" sz="2000" b="1" dirty="0">
              <a:latin typeface="Roboto Condensed" charset="0"/>
              <a:ea typeface="Roboto Condensed" charset="0"/>
            </a:endParaRPr>
          </a:p>
          <a:p>
            <a:pPr marL="76200" lvl="2" indent="0">
              <a:spcBef>
                <a:spcPts val="600"/>
              </a:spcBef>
              <a:buNone/>
            </a:pPr>
            <a:r>
              <a:rPr lang="en-IN" sz="2000" b="1" dirty="0">
                <a:latin typeface="Roboto Condensed" charset="0"/>
                <a:ea typeface="Roboto Condensed" charset="0"/>
              </a:rPr>
              <a:t>	</a:t>
            </a:r>
            <a:endParaRPr lang="en-IN" sz="2000" b="1" dirty="0">
              <a:solidFill>
                <a:srgbClr val="FF0000"/>
              </a:solidFill>
              <a:latin typeface="Roboto Condensed" charset="0"/>
              <a:ea typeface="Roboto Condensed" charset="0"/>
            </a:endParaRPr>
          </a:p>
          <a:p>
            <a:pPr marL="76200" lvl="2" indent="0">
              <a:spcBef>
                <a:spcPts val="600"/>
              </a:spcBef>
              <a:buNone/>
            </a:pPr>
            <a:endParaRPr lang="en-IN" sz="2000" b="1" dirty="0">
              <a:solidFill>
                <a:srgbClr val="FF0000"/>
              </a:solidFill>
              <a:latin typeface="Roboto Condensed" charset="0"/>
              <a:ea typeface="Roboto Condensed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8408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Commands for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306" y="1988840"/>
            <a:ext cx="3973750" cy="432349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533400" lvl="0" indent="-457200">
              <a:buClrTx/>
              <a:buSzPct val="100000"/>
              <a:buAutoNum type="arabicPeriod"/>
            </a:pPr>
            <a:r>
              <a:rPr lang="en-IN" sz="2000" b="1" dirty="0"/>
              <a:t>Create Table</a:t>
            </a:r>
          </a:p>
          <a:p>
            <a:pPr marL="533400" lvl="0" indent="-457200">
              <a:buAutoNum type="arabicPeriod"/>
            </a:pPr>
            <a:endParaRPr lang="en-IN" sz="2000" dirty="0"/>
          </a:p>
          <a:p>
            <a:pPr marL="533400" lvl="1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CREATE TABLE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 err="1"/>
              <a:t>table</a:t>
            </a:r>
            <a:r>
              <a:rPr lang="en-IN" sz="2000" dirty="0" err="1">
                <a:latin typeface="Raavi"/>
                <a:cs typeface="Raavi"/>
              </a:rPr>
              <a:t>_</a:t>
            </a:r>
            <a:r>
              <a:rPr lang="en-IN" sz="2000" dirty="0" err="1"/>
              <a:t>name</a:t>
            </a:r>
            <a:r>
              <a:rPr lang="en-IN" sz="2000" dirty="0"/>
              <a:t> (</a:t>
            </a:r>
          </a:p>
          <a:p>
            <a:pPr marL="533400" lvl="1" indent="0">
              <a:buNone/>
            </a:pPr>
            <a:r>
              <a:rPr lang="en-IN" sz="2000" dirty="0"/>
              <a:t>    column1 </a:t>
            </a:r>
            <a:r>
              <a:rPr lang="en-IN" sz="2000" dirty="0" err="1"/>
              <a:t>datatype</a:t>
            </a:r>
            <a:r>
              <a:rPr lang="en-IN" sz="2000" dirty="0"/>
              <a:t>,</a:t>
            </a:r>
          </a:p>
          <a:p>
            <a:pPr marL="533400" lvl="1" indent="0">
              <a:buNone/>
            </a:pPr>
            <a:r>
              <a:rPr lang="en-IN" sz="2000" dirty="0"/>
              <a:t>    column2 </a:t>
            </a:r>
            <a:r>
              <a:rPr lang="en-IN" sz="2000" dirty="0" err="1"/>
              <a:t>datatype</a:t>
            </a:r>
            <a:r>
              <a:rPr lang="en-IN" sz="2000" dirty="0"/>
              <a:t>,</a:t>
            </a:r>
          </a:p>
          <a:p>
            <a:pPr marL="533400" lvl="1" indent="0">
              <a:buNone/>
            </a:pPr>
            <a:r>
              <a:rPr lang="en-IN" sz="2000" dirty="0"/>
              <a:t>    column3 </a:t>
            </a:r>
            <a:r>
              <a:rPr lang="en-IN" sz="2000" dirty="0" err="1"/>
              <a:t>datatype</a:t>
            </a:r>
            <a:r>
              <a:rPr lang="en-IN" sz="2000" dirty="0"/>
              <a:t>,</a:t>
            </a:r>
          </a:p>
          <a:p>
            <a:pPr marL="533400" lvl="1" indent="0">
              <a:buNone/>
            </a:pPr>
            <a:r>
              <a:rPr lang="en-IN" sz="2000" dirty="0"/>
              <a:t>   ....</a:t>
            </a:r>
          </a:p>
          <a:p>
            <a:pPr marL="533400" lvl="1" indent="0">
              <a:buNone/>
            </a:pPr>
            <a:r>
              <a:rPr lang="en-IN" sz="2000" dirty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grpSp>
        <p:nvGrpSpPr>
          <p:cNvPr id="5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6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 Placeholder 2"/>
          <p:cNvSpPr txBox="1">
            <a:spLocks/>
          </p:cNvSpPr>
          <p:nvPr/>
        </p:nvSpPr>
        <p:spPr>
          <a:xfrm>
            <a:off x="5364088" y="2996952"/>
            <a:ext cx="3109653" cy="20882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>
              <a:buClrTx/>
              <a:buSzPct val="100000"/>
              <a:buNone/>
            </a:pPr>
            <a:r>
              <a:rPr lang="en-IN" sz="2000" b="1" dirty="0"/>
              <a:t>To display schema:</a:t>
            </a:r>
          </a:p>
          <a:p>
            <a:pPr marL="76200" indent="0">
              <a:buClrTx/>
              <a:buSzPct val="100000"/>
              <a:buNone/>
            </a:pPr>
            <a:endParaRPr lang="en-IN" sz="2000" b="1" dirty="0"/>
          </a:p>
          <a:p>
            <a:pPr marL="76200" indent="0">
              <a:buClrTx/>
              <a:buSzPct val="100000"/>
              <a:buNone/>
            </a:pPr>
            <a:r>
              <a:rPr lang="en-IN" sz="2000" dirty="0"/>
              <a:t>DESCRIBE &lt;</a:t>
            </a:r>
            <a:r>
              <a:rPr lang="en-IN" sz="2000" dirty="0" err="1"/>
              <a:t>Table</a:t>
            </a:r>
            <a:r>
              <a:rPr lang="en-IN" sz="2000" dirty="0" err="1">
                <a:latin typeface="Raavi"/>
                <a:cs typeface="Raavi"/>
              </a:rPr>
              <a:t>_</a:t>
            </a:r>
            <a:r>
              <a:rPr lang="en-IN" sz="2000" dirty="0" err="1"/>
              <a:t>name</a:t>
            </a:r>
            <a:r>
              <a:rPr lang="en-IN" sz="2000" dirty="0"/>
              <a:t>&gt;; </a:t>
            </a:r>
          </a:p>
        </p:txBody>
      </p:sp>
    </p:spTree>
    <p:extLst>
      <p:ext uri="{BB962C8B-B14F-4D97-AF65-F5344CB8AC3E}">
        <p14:creationId xmlns:p14="http://schemas.microsoft.com/office/powerpoint/2010/main" val="1231340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5496" y="2265986"/>
            <a:ext cx="2723109" cy="40433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>
              <a:lnSpc>
                <a:spcPct val="150000"/>
              </a:lnSpc>
              <a:buNone/>
            </a:pPr>
            <a:r>
              <a:rPr lang="en-IN" sz="1800" b="1" dirty="0"/>
              <a:t>Example 1:</a:t>
            </a:r>
            <a:endParaRPr lang="en-IN" sz="1800" dirty="0"/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CREATE TABLE Persons (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    </a:t>
            </a:r>
            <a:r>
              <a:rPr lang="en-IN" sz="1800" dirty="0" err="1"/>
              <a:t>PersonID</a:t>
            </a:r>
            <a:r>
              <a:rPr lang="en-IN" sz="1800" dirty="0"/>
              <a:t> int,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    </a:t>
            </a:r>
            <a:r>
              <a:rPr lang="en-IN" sz="1800" dirty="0" err="1"/>
              <a:t>LastName</a:t>
            </a:r>
            <a:r>
              <a:rPr lang="en-IN" sz="1800" dirty="0"/>
              <a:t> </a:t>
            </a:r>
            <a:r>
              <a:rPr lang="en-IN" sz="1800" dirty="0" err="1"/>
              <a:t>varchar</a:t>
            </a:r>
            <a:r>
              <a:rPr lang="en-IN" sz="1800" dirty="0"/>
              <a:t>(255),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    </a:t>
            </a:r>
            <a:r>
              <a:rPr lang="en-IN" sz="1800" dirty="0" err="1"/>
              <a:t>FirstName</a:t>
            </a:r>
            <a:r>
              <a:rPr lang="en-IN" sz="1800" dirty="0"/>
              <a:t> </a:t>
            </a:r>
            <a:r>
              <a:rPr lang="en-IN" sz="1800" dirty="0" err="1"/>
              <a:t>varchar</a:t>
            </a:r>
            <a:r>
              <a:rPr lang="en-IN" sz="1800" dirty="0"/>
              <a:t>(255),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    Address </a:t>
            </a:r>
            <a:r>
              <a:rPr lang="en-IN" sz="1800" dirty="0" err="1"/>
              <a:t>varchar</a:t>
            </a:r>
            <a:r>
              <a:rPr lang="en-IN" sz="1800" dirty="0"/>
              <a:t>(255),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    City </a:t>
            </a:r>
            <a:r>
              <a:rPr lang="en-IN" sz="1800" dirty="0" err="1"/>
              <a:t>varchar</a:t>
            </a:r>
            <a:r>
              <a:rPr lang="en-IN" sz="1800" dirty="0"/>
              <a:t>(255)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597" y="1772816"/>
            <a:ext cx="6233520" cy="507129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7004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2936"/>
            <a:ext cx="6948263" cy="400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2627784" y="34078"/>
            <a:ext cx="6480720" cy="281885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>
              <a:lnSpc>
                <a:spcPct val="150000"/>
              </a:lnSpc>
            </a:pPr>
            <a:r>
              <a:rPr lang="en-IN" sz="2000" b="1" dirty="0">
                <a:latin typeface="Roboto Condensed" charset="0"/>
                <a:ea typeface="Roboto Condensed" charset="0"/>
              </a:rPr>
              <a:t>Example 2:</a:t>
            </a:r>
            <a:endParaRPr lang="en-IN" sz="2000" dirty="0">
              <a:latin typeface="Roboto Condensed" charset="0"/>
              <a:ea typeface="Roboto Condensed" charset="0"/>
            </a:endParaRP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CREATE TABLE clothes (</a:t>
            </a: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    product_ID int PRIMARY KEY AUTO_INCREMENT,</a:t>
            </a: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    name </a:t>
            </a:r>
            <a:r>
              <a:rPr lang="en-IN" sz="2000" dirty="0" err="1">
                <a:latin typeface="Cambria" pitchFamily="18" charset="0"/>
                <a:ea typeface="Roboto Condensed" charset="0"/>
              </a:rPr>
              <a:t>varchar</a:t>
            </a:r>
            <a:r>
              <a:rPr lang="en-IN" sz="2000" dirty="0">
                <a:latin typeface="Cambria" pitchFamily="18" charset="0"/>
                <a:ea typeface="Roboto Condensed" charset="0"/>
              </a:rPr>
              <a:t>(255) NOT NULL,</a:t>
            </a: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    fabric text NOT NULL,</a:t>
            </a: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    size </a:t>
            </a:r>
            <a:r>
              <a:rPr lang="en-IN" sz="2000" dirty="0" err="1">
                <a:latin typeface="Cambria" pitchFamily="18" charset="0"/>
                <a:ea typeface="Roboto Condensed" charset="0"/>
              </a:rPr>
              <a:t>enum</a:t>
            </a:r>
            <a:r>
              <a:rPr lang="en-IN" sz="2000" dirty="0">
                <a:latin typeface="Cambria" pitchFamily="18" charset="0"/>
                <a:ea typeface="Roboto Condensed" charset="0"/>
              </a:rPr>
              <a:t> ('small', 'medium', 'large') NOT NULL</a:t>
            </a:r>
          </a:p>
          <a:p>
            <a:pPr marL="76200">
              <a:lnSpc>
                <a:spcPct val="150000"/>
              </a:lnSpc>
            </a:pPr>
            <a:r>
              <a:rPr lang="en-IN" sz="2000" dirty="0">
                <a:latin typeface="Cambria" pitchFamily="18" charset="0"/>
                <a:ea typeface="Roboto Condensed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06403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5574"/>
            <a:ext cx="7020272" cy="432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3347864" y="35294"/>
            <a:ext cx="5688632" cy="252028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>
              <a:lnSpc>
                <a:spcPct val="130000"/>
              </a:lnSpc>
            </a:pPr>
            <a:r>
              <a:rPr lang="en-IN" sz="1900" b="1">
                <a:latin typeface="Roboto Condensed" charset="0"/>
                <a:ea typeface="Roboto Condensed" charset="0"/>
              </a:rPr>
              <a:t>Example 3:</a:t>
            </a:r>
          </a:p>
          <a:p>
            <a:pPr marL="76200">
              <a:lnSpc>
                <a:spcPct val="130000"/>
              </a:lnSpc>
            </a:pPr>
            <a:r>
              <a:rPr lang="en-IN" sz="1900">
                <a:latin typeface="Cambria" pitchFamily="18" charset="0"/>
                <a:ea typeface="Roboto Condensed" charset="0"/>
              </a:rPr>
              <a:t>CREATE TABLE student (  </a:t>
            </a:r>
          </a:p>
          <a:p>
            <a:pPr marL="76200">
              <a:lnSpc>
                <a:spcPct val="130000"/>
              </a:lnSpc>
            </a:pPr>
            <a:r>
              <a:rPr lang="en-IN" sz="1900">
                <a:latin typeface="Cambria" pitchFamily="18" charset="0"/>
                <a:ea typeface="Roboto Condensed" charset="0"/>
              </a:rPr>
              <a:t>    studentid INT PRIMARY KEY AUTO_INCREMENT,  </a:t>
            </a:r>
          </a:p>
          <a:p>
            <a:pPr marL="76200">
              <a:lnSpc>
                <a:spcPct val="130000"/>
              </a:lnSpc>
            </a:pPr>
            <a:r>
              <a:rPr lang="en-IN" sz="1900">
                <a:latin typeface="Cambria" pitchFamily="18" charset="0"/>
                <a:ea typeface="Roboto Condensed" charset="0"/>
              </a:rPr>
              <a:t>    name VARCHAR(40) NOT NULL,  </a:t>
            </a:r>
          </a:p>
          <a:p>
            <a:pPr marL="76200">
              <a:lnSpc>
                <a:spcPct val="130000"/>
              </a:lnSpc>
            </a:pPr>
            <a:r>
              <a:rPr lang="en-IN" sz="1900">
                <a:latin typeface="Cambria" pitchFamily="18" charset="0"/>
                <a:ea typeface="Roboto Condensed" charset="0"/>
              </a:rPr>
              <a:t>    age VARCHAR(3),  </a:t>
            </a:r>
          </a:p>
          <a:p>
            <a:pPr marL="76200">
              <a:lnSpc>
                <a:spcPct val="130000"/>
              </a:lnSpc>
            </a:pPr>
            <a:r>
              <a:rPr lang="en-IN" sz="1900">
                <a:latin typeface="Cambria" pitchFamily="18" charset="0"/>
                <a:ea typeface="Roboto Condensed" charset="0"/>
              </a:rPr>
              <a:t>    pass BOOLEAN );</a:t>
            </a:r>
            <a:endParaRPr lang="en-IN" sz="1900" dirty="0">
              <a:latin typeface="Cambria" pitchFamily="18" charset="0"/>
              <a:ea typeface="Roboto Condense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52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2. Display tables in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14275" y="1971304"/>
            <a:ext cx="3973749" cy="4194000"/>
          </a:xfrm>
        </p:spPr>
        <p:txBody>
          <a:bodyPr/>
          <a:lstStyle/>
          <a:p>
            <a:r>
              <a:rPr lang="en-IN" b="1" dirty="0"/>
              <a:t>show tables;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090960"/>
            <a:ext cx="4504134" cy="343952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010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ym typeface="Wingdings" pitchFamily="2" charset="2"/>
              </a:rPr>
              <a:t> </a:t>
            </a:r>
            <a:r>
              <a:rPr lang="en-IN" sz="2400" dirty="0"/>
              <a:t>Drop &amp; Truncate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584" y="1988840"/>
            <a:ext cx="7430133" cy="4194000"/>
          </a:xfrm>
        </p:spPr>
        <p:txBody>
          <a:bodyPr/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000" b="1" dirty="0">
                <a:latin typeface="Cambria" pitchFamily="18" charset="0"/>
              </a:rPr>
              <a:t>3. Delete Table (Drop)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The DROP TABLE statement is used to drop an existing table in a database.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Ex:</a:t>
            </a:r>
            <a:r>
              <a:rPr lang="en-IN" sz="2000" dirty="0">
                <a:latin typeface="Cambria" pitchFamily="18" charset="0"/>
              </a:rPr>
              <a:t> </a:t>
            </a:r>
            <a:r>
              <a:rPr lang="en-IN" sz="2000" b="1" dirty="0">
                <a:latin typeface="Cambria" pitchFamily="18" charset="0"/>
              </a:rPr>
              <a:t>DROP TABLE </a:t>
            </a:r>
            <a:r>
              <a:rPr lang="en-IN" sz="2000" dirty="0" err="1">
                <a:latin typeface="Cambria" pitchFamily="18" charset="0"/>
              </a:rPr>
              <a:t>table_name</a:t>
            </a:r>
            <a:r>
              <a:rPr lang="en-IN" sz="2000" dirty="0">
                <a:latin typeface="Cambria" pitchFamily="18" charset="0"/>
              </a:rPr>
              <a:t>;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b="1" dirty="0">
                <a:latin typeface="Cambria" pitchFamily="18" charset="0"/>
              </a:rPr>
              <a:t>4. Clear Table (Truncate)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The TRUNCATE TABLE statement is used to delete the data inside a table, but not the table itself.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  <a:latin typeface="Cambria" pitchFamily="18" charset="0"/>
              </a:rPr>
              <a:t>Ex:</a:t>
            </a:r>
            <a:r>
              <a:rPr lang="en-IN" sz="2000" dirty="0">
                <a:latin typeface="Cambria" pitchFamily="18" charset="0"/>
              </a:rPr>
              <a:t> </a:t>
            </a:r>
            <a:r>
              <a:rPr lang="en-IN" sz="2000" b="1" dirty="0">
                <a:latin typeface="Cambria" pitchFamily="18" charset="0"/>
              </a:rPr>
              <a:t>TRUNCATE TABLE </a:t>
            </a:r>
            <a:r>
              <a:rPr lang="en-IN" sz="2000" dirty="0" err="1">
                <a:latin typeface="Cambria" pitchFamily="18" charset="0"/>
              </a:rPr>
              <a:t>table_name</a:t>
            </a:r>
            <a:r>
              <a:rPr lang="en-IN" sz="2000" dirty="0">
                <a:latin typeface="Cambria" pitchFamily="18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4006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5. Modify Table Properties (Alter)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8" y="1805639"/>
            <a:ext cx="3456383" cy="4755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The ALTER TABLE statement is used to </a:t>
            </a:r>
            <a:r>
              <a:rPr lang="en-IN" sz="2000" b="1" dirty="0"/>
              <a:t>add, delete, or modify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FF0000"/>
                </a:solidFill>
              </a:rPr>
              <a:t>columns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in an existing table.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ALTER TABLE statement is also used to a</a:t>
            </a:r>
            <a:r>
              <a:rPr lang="en-IN" sz="2000" b="1" dirty="0"/>
              <a:t>dd and drop</a:t>
            </a:r>
            <a:r>
              <a:rPr lang="en-IN" sz="2000" dirty="0"/>
              <a:t> various </a:t>
            </a:r>
            <a:r>
              <a:rPr lang="en-IN" sz="2000" b="1" dirty="0">
                <a:solidFill>
                  <a:srgbClr val="FF0000"/>
                </a:solidFill>
              </a:rPr>
              <a:t>constraints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on an existing table.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3779912" y="1802571"/>
            <a:ext cx="5040560" cy="436273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1800" b="1" dirty="0">
                <a:solidFill>
                  <a:srgbClr val="7030A0"/>
                </a:solidFill>
                <a:latin typeface="Cambria" pitchFamily="18" charset="0"/>
              </a:rPr>
              <a:t>Example 1: </a:t>
            </a:r>
            <a:r>
              <a:rPr lang="en-IN" sz="1800" b="1" dirty="0">
                <a:latin typeface="Cambria" pitchFamily="18" charset="0"/>
              </a:rPr>
              <a:t>(Add new Column)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ALTER TABLE Customers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ADD COLUMN Email </a:t>
            </a:r>
            <a:r>
              <a:rPr lang="en-IN" sz="1800" dirty="0" err="1">
                <a:latin typeface="Cambria" pitchFamily="18" charset="0"/>
              </a:rPr>
              <a:t>varchar</a:t>
            </a:r>
            <a:r>
              <a:rPr lang="en-IN" sz="1800" dirty="0">
                <a:latin typeface="Cambria" pitchFamily="18" charset="0"/>
              </a:rPr>
              <a:t>(255);</a:t>
            </a:r>
          </a:p>
          <a:p>
            <a:pPr>
              <a:lnSpc>
                <a:spcPct val="150000"/>
              </a:lnSpc>
            </a:pPr>
            <a:endParaRPr lang="en-IN" sz="1050" dirty="0">
              <a:latin typeface="Cambria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b="1" dirty="0">
                <a:solidFill>
                  <a:srgbClr val="7030A0"/>
                </a:solidFill>
                <a:latin typeface="Cambria" pitchFamily="18" charset="0"/>
              </a:rPr>
              <a:t>Example 2: </a:t>
            </a:r>
            <a:r>
              <a:rPr lang="en-IN" sz="1800" b="1" dirty="0">
                <a:latin typeface="Cambria" pitchFamily="18" charset="0"/>
              </a:rPr>
              <a:t>(Delete an existing column)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ALTER TABLE Customers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DROP COLUMN Email;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Cambria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b="1" dirty="0">
                <a:solidFill>
                  <a:srgbClr val="7030A0"/>
                </a:solidFill>
                <a:latin typeface="Cambria" pitchFamily="18" charset="0"/>
              </a:rPr>
              <a:t>Example 3: </a:t>
            </a:r>
            <a:r>
              <a:rPr lang="en-IN" sz="1800" b="1" dirty="0">
                <a:latin typeface="Cambria" pitchFamily="18" charset="0"/>
              </a:rPr>
              <a:t>(Modify the column’s </a:t>
            </a:r>
            <a:r>
              <a:rPr lang="en-IN" sz="1800" b="1" dirty="0" err="1">
                <a:latin typeface="Cambria" pitchFamily="18" charset="0"/>
              </a:rPr>
              <a:t>datatype</a:t>
            </a:r>
            <a:r>
              <a:rPr lang="en-IN" sz="1800" b="1" dirty="0">
                <a:latin typeface="Cambria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ALTER TABLE Persons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MODIFY COLUMN email char(20);</a:t>
            </a:r>
          </a:p>
        </p:txBody>
      </p:sp>
    </p:spTree>
    <p:extLst>
      <p:ext uri="{BB962C8B-B14F-4D97-AF65-F5344CB8AC3E}">
        <p14:creationId xmlns:p14="http://schemas.microsoft.com/office/powerpoint/2010/main" val="3036408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" y="691886"/>
            <a:ext cx="7128203" cy="6166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9746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2019874"/>
            <a:ext cx="7690021" cy="360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345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Alter : Rename column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1187624" y="1946156"/>
            <a:ext cx="5832648" cy="133882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1800" b="1" dirty="0">
                <a:solidFill>
                  <a:srgbClr val="7030A0"/>
                </a:solidFill>
                <a:latin typeface="Cambria" pitchFamily="18" charset="0"/>
              </a:rPr>
              <a:t>Example 4: </a:t>
            </a:r>
            <a:r>
              <a:rPr lang="en-IN" sz="1800" b="1" dirty="0">
                <a:latin typeface="Cambria" pitchFamily="18" charset="0"/>
              </a:rPr>
              <a:t>(Modify the column’s name)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ALTER TABLE Persons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mbria" pitchFamily="18" charset="0"/>
              </a:rPr>
              <a:t>	RENAME COLUMN </a:t>
            </a:r>
            <a:r>
              <a:rPr lang="en-IN" sz="1800" dirty="0" err="1">
                <a:latin typeface="Cambria" pitchFamily="18" charset="0"/>
              </a:rPr>
              <a:t>person_ID</a:t>
            </a:r>
            <a:r>
              <a:rPr lang="en-IN" sz="1800" dirty="0">
                <a:latin typeface="Cambria" pitchFamily="18" charset="0"/>
              </a:rPr>
              <a:t> to </a:t>
            </a:r>
            <a:r>
              <a:rPr lang="en-IN" sz="1800" dirty="0" err="1">
                <a:latin typeface="Cambria" pitchFamily="18" charset="0"/>
              </a:rPr>
              <a:t>person_num</a:t>
            </a:r>
            <a:r>
              <a:rPr lang="en-IN" sz="1800" dirty="0">
                <a:latin typeface="Cambria" pitchFamily="18" charset="0"/>
              </a:rPr>
              <a:t>;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977"/>
            <a:ext cx="8460432" cy="33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111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Alter :  “Column Constraints”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584" y="1916832"/>
            <a:ext cx="7416824" cy="1296144"/>
          </a:xfrm>
          <a:ln>
            <a:solidFill>
              <a:srgbClr val="0070C0"/>
            </a:solidFill>
          </a:ln>
        </p:spPr>
        <p:txBody>
          <a:bodyPr/>
          <a:lstStyle/>
          <a:p>
            <a:pPr marL="76200" indent="0">
              <a:buNone/>
            </a:pPr>
            <a:r>
              <a:rPr lang="en-IN" sz="1800" b="1" dirty="0">
                <a:solidFill>
                  <a:srgbClr val="7030A0"/>
                </a:solidFill>
                <a:latin typeface="Cambria" pitchFamily="18" charset="0"/>
              </a:rPr>
              <a:t>Example 1:</a:t>
            </a:r>
          </a:p>
          <a:p>
            <a:pPr marL="76200" indent="0">
              <a:buNone/>
            </a:pPr>
            <a:r>
              <a:rPr lang="en-IN" sz="1800" b="1" dirty="0">
                <a:latin typeface="Cambria" pitchFamily="18" charset="0"/>
              </a:rPr>
              <a:t>ALTER TABLE </a:t>
            </a:r>
            <a:r>
              <a:rPr lang="en-IN" sz="1800" dirty="0" err="1">
                <a:latin typeface="Cambria" pitchFamily="18" charset="0"/>
              </a:rPr>
              <a:t>table_name</a:t>
            </a:r>
            <a:endParaRPr lang="en-IN" sz="1800" dirty="0">
              <a:latin typeface="Cambria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itchFamily="18" charset="0"/>
              </a:rPr>
              <a:t>ADD CONSTRAINT &lt;</a:t>
            </a:r>
            <a:r>
              <a:rPr lang="en-IN" sz="1800" dirty="0" err="1">
                <a:latin typeface="Cambria" pitchFamily="18" charset="0"/>
              </a:rPr>
              <a:t>constraint_name</a:t>
            </a:r>
            <a:r>
              <a:rPr lang="en-IN" sz="1800" dirty="0">
                <a:latin typeface="Cambria" pitchFamily="18" charset="0"/>
              </a:rPr>
              <a:t>&gt; (column1, column2, ... </a:t>
            </a:r>
            <a:r>
              <a:rPr lang="en-IN" sz="1800" dirty="0" err="1">
                <a:latin typeface="Cambria" pitchFamily="18" charset="0"/>
              </a:rPr>
              <a:t>column_n</a:t>
            </a:r>
            <a:r>
              <a:rPr lang="en-IN" sz="1800" dirty="0">
                <a:latin typeface="Cambria" pitchFamily="18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44618"/>
            <a:ext cx="846494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54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827584" y="1844824"/>
            <a:ext cx="7416824" cy="1584176"/>
          </a:xfrm>
          <a:ln>
            <a:solidFill>
              <a:srgbClr val="0070C0"/>
            </a:solidFill>
          </a:ln>
        </p:spPr>
        <p:txBody>
          <a:bodyPr/>
          <a:lstStyle/>
          <a:p>
            <a:pPr marL="76200" indent="0">
              <a:lnSpc>
                <a:spcPct val="150000"/>
              </a:lnSpc>
              <a:buNone/>
            </a:pPr>
            <a:r>
              <a:rPr lang="en-IN" sz="1800" b="1" dirty="0">
                <a:latin typeface="Cambria" pitchFamily="18" charset="0"/>
              </a:rPr>
              <a:t>ALTER TABLE </a:t>
            </a:r>
            <a:r>
              <a:rPr lang="en-IN" sz="1800" dirty="0" err="1">
                <a:latin typeface="Cambria" pitchFamily="18" charset="0"/>
              </a:rPr>
              <a:t>table_name</a:t>
            </a:r>
            <a:endParaRPr lang="en-IN" sz="1800" dirty="0">
              <a:latin typeface="Cambria" pitchFamily="18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>
                <a:latin typeface="Cambria" pitchFamily="18" charset="0"/>
              </a:rPr>
              <a:t>ADD CONSTRAINT &lt;user_def_constraint_name&gt; &lt;</a:t>
            </a:r>
            <a:r>
              <a:rPr lang="en-IN" sz="1800" dirty="0" err="1">
                <a:latin typeface="Cambria" pitchFamily="18" charset="0"/>
              </a:rPr>
              <a:t>constraint_name</a:t>
            </a:r>
            <a:r>
              <a:rPr lang="en-IN" sz="1800" dirty="0">
                <a:latin typeface="Cambria" pitchFamily="18" charset="0"/>
              </a:rPr>
              <a:t>&gt; (column1, column2, ... </a:t>
            </a:r>
            <a:r>
              <a:rPr lang="en-IN" sz="1800" dirty="0" err="1">
                <a:latin typeface="Cambria" pitchFamily="18" charset="0"/>
              </a:rPr>
              <a:t>column_n</a:t>
            </a:r>
            <a:r>
              <a:rPr lang="en-IN" sz="1800" dirty="0">
                <a:latin typeface="Cambria" pitchFamily="18" charset="0"/>
              </a:rPr>
              <a:t>);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827584" y="3645024"/>
            <a:ext cx="7416824" cy="10081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>
              <a:lnSpc>
                <a:spcPct val="150000"/>
              </a:lnSpc>
              <a:buFont typeface="Roboto Condensed Light"/>
              <a:buNone/>
            </a:pPr>
            <a:r>
              <a:rPr lang="en-IN" sz="1800" b="1" dirty="0">
                <a:latin typeface="Cambria" pitchFamily="18" charset="0"/>
              </a:rPr>
              <a:t>ALTER TABLE </a:t>
            </a:r>
            <a:r>
              <a:rPr lang="en-IN" sz="1800" dirty="0" err="1">
                <a:latin typeface="Cambria" pitchFamily="18" charset="0"/>
              </a:rPr>
              <a:t>table_name</a:t>
            </a:r>
            <a:endParaRPr lang="en-IN" sz="1800" dirty="0">
              <a:latin typeface="Cambria" pitchFamily="18" charset="0"/>
            </a:endParaRPr>
          </a:p>
          <a:p>
            <a:pPr marL="76200" indent="0">
              <a:lnSpc>
                <a:spcPct val="150000"/>
              </a:lnSpc>
              <a:buFont typeface="Roboto Condensed Light"/>
              <a:buNone/>
            </a:pPr>
            <a:r>
              <a:rPr lang="en-IN" sz="1800" dirty="0">
                <a:latin typeface="Cambria" pitchFamily="18" charset="0"/>
              </a:rPr>
              <a:t>DROP CONSTRAINT &lt;</a:t>
            </a:r>
            <a:r>
              <a:rPr lang="en-IN" sz="1800" dirty="0" err="1">
                <a:latin typeface="Cambria" pitchFamily="18" charset="0"/>
              </a:rPr>
              <a:t>usedef_constraint_name</a:t>
            </a:r>
            <a:r>
              <a:rPr lang="en-IN" sz="1800" dirty="0">
                <a:latin typeface="Cambria" pitchFamily="18" charset="0"/>
              </a:rPr>
              <a:t>&gt;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827584" y="4869160"/>
            <a:ext cx="7416824" cy="12961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>
              <a:lnSpc>
                <a:spcPct val="150000"/>
              </a:lnSpc>
              <a:buNone/>
            </a:pPr>
            <a:r>
              <a:rPr lang="en-IN" sz="1800" b="1" dirty="0">
                <a:latin typeface="Cambria" pitchFamily="18" charset="0"/>
              </a:rPr>
              <a:t>Note: </a:t>
            </a:r>
            <a:r>
              <a:rPr lang="en-IN" sz="1800" dirty="0">
                <a:latin typeface="Cambria" pitchFamily="18" charset="0"/>
              </a:rPr>
              <a:t>We cannot modify the constraint. We shall drop a constraint and add a new one. However, if we want to drop, we need to use </a:t>
            </a:r>
            <a:r>
              <a:rPr lang="en-IN" sz="1800" b="1" dirty="0">
                <a:solidFill>
                  <a:srgbClr val="FF0000"/>
                </a:solidFill>
                <a:latin typeface="Cambria" pitchFamily="18" charset="0"/>
              </a:rPr>
              <a:t>“user_def_constraint_name” </a:t>
            </a:r>
            <a:r>
              <a:rPr lang="en-IN" sz="1800" dirty="0">
                <a:solidFill>
                  <a:schemeClr val="tx1"/>
                </a:solidFill>
                <a:latin typeface="Cambria" pitchFamily="18" charset="0"/>
              </a:rPr>
              <a:t>while creating the constraint.</a:t>
            </a:r>
            <a:r>
              <a:rPr lang="en-IN" sz="1800" b="1" dirty="0">
                <a:solidFill>
                  <a:srgbClr val="FF0000"/>
                </a:solidFill>
                <a:latin typeface="Cambria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1931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4" y="3828197"/>
            <a:ext cx="504458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SQL Constraints</a:t>
            </a:r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4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328311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About SQL Constraints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7646158" cy="4194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SQL constraints are used to specify rules for the data in a table.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Constraints can be column level or table level.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b="1" dirty="0"/>
              <a:t>Column Level Constraints: </a:t>
            </a:r>
            <a:r>
              <a:rPr lang="en-IN" sz="2000" dirty="0"/>
              <a:t>These constraints are applied only to the single column that limits the type of particular column data.</a:t>
            </a:r>
          </a:p>
          <a:p>
            <a:pPr marL="990600" lvl="1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b="1" dirty="0"/>
              <a:t>Table Level Constraints: </a:t>
            </a:r>
            <a:r>
              <a:rPr lang="en-IN" sz="2000" dirty="0"/>
              <a:t>These constraints are applied to the entire table that limits the type of data for the whole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6482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Types of constraint in MySQL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31" y="1769800"/>
            <a:ext cx="5687243" cy="4194000"/>
          </a:xfrm>
        </p:spPr>
        <p:txBody>
          <a:bodyPr/>
          <a:lstStyle/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NOT NULL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PRIMARY KEY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FOREIGN KEY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UNIQUE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CHECK</a:t>
            </a:r>
          </a:p>
          <a:p>
            <a:pPr marL="533400" indent="-45720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IN" sz="2000" dirty="0"/>
              <a:t>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0725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769800"/>
            <a:ext cx="8078206" cy="4194000"/>
          </a:xfrm>
        </p:spPr>
        <p:txBody>
          <a:bodyPr/>
          <a:lstStyle/>
          <a:p>
            <a:pPr marL="533400" indent="-457200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NOT NULL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Ensures that a column cannot have a NULL value</a:t>
            </a:r>
          </a:p>
          <a:p>
            <a:pPr marL="533400" indent="-457200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PRIMARY KEY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A combination of a NOT NULL and UNIQUE. Uniquely identifies each row in a table</a:t>
            </a:r>
          </a:p>
          <a:p>
            <a:pPr marL="533400" indent="-457200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FOREIGN KEY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It is like a primary key constraint only. But it uniquely identifies a row in another table.</a:t>
            </a:r>
          </a:p>
          <a:p>
            <a:pPr marL="533400" indent="-457200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+mj-lt"/>
              <a:buAutoNum type="arabicPeriod"/>
            </a:pPr>
            <a:r>
              <a:rPr lang="en-IN" sz="2000" b="1" dirty="0">
                <a:latin typeface="Cambria" pitchFamily="18" charset="0"/>
              </a:rPr>
              <a:t>CHECK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</a:pPr>
            <a:r>
              <a:rPr lang="en-IN" sz="2000" dirty="0">
                <a:latin typeface="Cambria" pitchFamily="18" charset="0"/>
              </a:rPr>
              <a:t>Ensures that the values in a column satisfies a specific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9601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err="1"/>
              <a:t>Cont</a:t>
            </a:r>
            <a:r>
              <a:rPr lang="en-IN" sz="2400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628800"/>
            <a:ext cx="7718166" cy="4824536"/>
          </a:xfrm>
        </p:spPr>
        <p:txBody>
          <a:bodyPr>
            <a:normAutofit fontScale="92500" lnSpcReduction="20000"/>
          </a:bodyPr>
          <a:lstStyle/>
          <a:p>
            <a:pPr marL="53340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 startAt="5"/>
              <a:defRPr/>
            </a:pPr>
            <a:r>
              <a:rPr lang="en-IN" sz="2000" b="1" dirty="0">
                <a:latin typeface="Cambria" pitchFamily="18" charset="0"/>
              </a:rPr>
              <a:t>UNIQUE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  <a:defRPr/>
            </a:pPr>
            <a:r>
              <a:rPr lang="en-IN" sz="2000" dirty="0">
                <a:latin typeface="Cambria" pitchFamily="18" charset="0"/>
              </a:rPr>
              <a:t>It ensures that a column does not accept duplicate values.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  <a:defRPr/>
            </a:pPr>
            <a:r>
              <a:rPr lang="en-IN" sz="2000" dirty="0">
                <a:latin typeface="Cambria" pitchFamily="18" charset="0"/>
              </a:rPr>
              <a:t>Both the UNIQUE and PRIMARY KEY constraints provide a guarantee for uniqueness for a column or set of columns.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  <a:defRPr/>
            </a:pPr>
            <a:r>
              <a:rPr lang="en-IN" sz="2000" dirty="0">
                <a:latin typeface="Cambria" pitchFamily="18" charset="0"/>
              </a:rPr>
              <a:t>A PRIMARY KEY constraint automatically has a UNIQUE constraint.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  <a:defRPr/>
            </a:pPr>
            <a:r>
              <a:rPr lang="en-IN" sz="2000" dirty="0">
                <a:latin typeface="Cambria" pitchFamily="18" charset="0"/>
              </a:rPr>
              <a:t>However, you can have many UNIQUE constraints per table, but only one PRIMARY KEY constraint per table.</a:t>
            </a:r>
          </a:p>
          <a:p>
            <a:pPr lvl="1" indent="-317500">
              <a:lnSpc>
                <a:spcPct val="16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Char char="●"/>
              <a:defRPr/>
            </a:pPr>
            <a:endParaRPr lang="en-IN" sz="2000" dirty="0">
              <a:latin typeface="Cambria" pitchFamily="18" charset="0"/>
            </a:endParaRPr>
          </a:p>
          <a:p>
            <a:pPr marL="533400" indent="-457200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+mj-lt"/>
              <a:buAutoNum type="arabicPeriod" startAt="5"/>
              <a:defRPr/>
            </a:pPr>
            <a:r>
              <a:rPr lang="en-IN" sz="2000" b="1" dirty="0">
                <a:latin typeface="Cambria" pitchFamily="18" charset="0"/>
              </a:rPr>
              <a:t>DEFAULT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§"/>
              <a:defRPr/>
            </a:pPr>
            <a:r>
              <a:rPr lang="en-IN" sz="2000" dirty="0">
                <a:latin typeface="Cambria" pitchFamily="18" charset="0"/>
              </a:rPr>
              <a:t>Sets a default value for a column if no value is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3503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Example 1: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616" y="2132856"/>
            <a:ext cx="3973749" cy="3675424"/>
          </a:xfrm>
          <a:ln>
            <a:solidFill>
              <a:schemeClr val="accent1"/>
            </a:solidFill>
          </a:ln>
        </p:spPr>
        <p:txBody>
          <a:bodyPr/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create table Student(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</a:t>
            </a:r>
            <a:r>
              <a:rPr lang="en-IN" sz="2000" dirty="0" err="1"/>
              <a:t>Rollnum</a:t>
            </a: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primary key not null,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name </a:t>
            </a:r>
            <a:r>
              <a:rPr lang="en-IN" sz="2000" dirty="0" err="1"/>
              <a:t>varchar</a:t>
            </a:r>
            <a:r>
              <a:rPr lang="en-IN" sz="2000" dirty="0"/>
              <a:t>(20) not null,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age </a:t>
            </a:r>
            <a:r>
              <a:rPr lang="en-IN" sz="2000" dirty="0" err="1"/>
              <a:t>int</a:t>
            </a:r>
            <a:r>
              <a:rPr lang="en-IN" sz="2000" dirty="0"/>
              <a:t> default 1,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regnum </a:t>
            </a:r>
            <a:r>
              <a:rPr lang="en-IN" sz="2000" dirty="0" err="1"/>
              <a:t>int</a:t>
            </a:r>
            <a:r>
              <a:rPr lang="en-IN" sz="2000" dirty="0"/>
              <a:t> unique check(age&gt;18)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67328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Examples 2: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615" y="1988840"/>
            <a:ext cx="3960441" cy="4320480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create table Student(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</a:t>
            </a:r>
            <a:r>
              <a:rPr lang="en-IN" sz="2000" dirty="0" err="1"/>
              <a:t>Rollnum</a:t>
            </a: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not null,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name </a:t>
            </a:r>
            <a:r>
              <a:rPr lang="en-IN" sz="2000" dirty="0" err="1"/>
              <a:t>varchar</a:t>
            </a:r>
            <a:r>
              <a:rPr lang="en-IN" sz="2000" dirty="0"/>
              <a:t>(20) not null,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age </a:t>
            </a:r>
            <a:r>
              <a:rPr lang="en-IN" sz="2000" dirty="0" err="1"/>
              <a:t>int</a:t>
            </a:r>
            <a:r>
              <a:rPr lang="en-IN" sz="2000" dirty="0"/>
              <a:t> default 1,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regnum </a:t>
            </a:r>
            <a:r>
              <a:rPr lang="en-IN" sz="2000" dirty="0" err="1"/>
              <a:t>int</a:t>
            </a:r>
            <a:r>
              <a:rPr lang="en-IN" sz="2000" dirty="0"/>
              <a:t> unique,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check(age&gt;18),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 primary key(</a:t>
            </a:r>
            <a:r>
              <a:rPr lang="en-IN" sz="2000" dirty="0" err="1"/>
              <a:t>Rollnum</a:t>
            </a:r>
            <a:r>
              <a:rPr lang="en-IN" sz="2000" dirty="0"/>
              <a:t>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2685101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1494</Words>
  <Application>Microsoft Office PowerPoint</Application>
  <PresentationFormat>On-screen Show (4:3)</PresentationFormat>
  <Paragraphs>296</Paragraphs>
  <Slides>41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Calibri</vt:lpstr>
      <vt:lpstr>Raavi</vt:lpstr>
      <vt:lpstr>Arvo</vt:lpstr>
      <vt:lpstr>Arial Narrow</vt:lpstr>
      <vt:lpstr>Arial</vt:lpstr>
      <vt:lpstr>Symbol</vt:lpstr>
      <vt:lpstr>Roboto Condensed</vt:lpstr>
      <vt:lpstr>Wingdings</vt:lpstr>
      <vt:lpstr>Roboto Condensed Light</vt:lpstr>
      <vt:lpstr>Cambria</vt:lpstr>
      <vt:lpstr>Salerio template</vt:lpstr>
      <vt:lpstr>SQL &amp; MySQL</vt:lpstr>
      <vt:lpstr>AGENDA</vt:lpstr>
      <vt:lpstr>SQL Fundamentals</vt:lpstr>
      <vt:lpstr>What is SQL?</vt:lpstr>
      <vt:lpstr>Various parts of SQL</vt:lpstr>
      <vt:lpstr>Cont...</vt:lpstr>
      <vt:lpstr>MYSQL</vt:lpstr>
      <vt:lpstr>Introduction to MySQL</vt:lpstr>
      <vt:lpstr>Data Types of SQL in Mysql</vt:lpstr>
      <vt:lpstr>1. Numeric Data Types</vt:lpstr>
      <vt:lpstr>Example</vt:lpstr>
      <vt:lpstr>2. String Data Types</vt:lpstr>
      <vt:lpstr>3. Date and Time Data Types</vt:lpstr>
      <vt:lpstr>3. Boolean Data Type</vt:lpstr>
      <vt:lpstr>4. Binary Data Types</vt:lpstr>
      <vt:lpstr>5. JSON Data Type</vt:lpstr>
      <vt:lpstr>6. Spatial Data Types</vt:lpstr>
      <vt:lpstr>Data-definition language (DDL)</vt:lpstr>
      <vt:lpstr>Commands for Database</vt:lpstr>
      <vt:lpstr>Cont…</vt:lpstr>
      <vt:lpstr>Cont…</vt:lpstr>
      <vt:lpstr>Cont…</vt:lpstr>
      <vt:lpstr>Commands for Table</vt:lpstr>
      <vt:lpstr>Cont…</vt:lpstr>
      <vt:lpstr>PowerPoint Presentation</vt:lpstr>
      <vt:lpstr>PowerPoint Presentation</vt:lpstr>
      <vt:lpstr>2. Display tables in database</vt:lpstr>
      <vt:lpstr> Drop &amp; Truncate</vt:lpstr>
      <vt:lpstr>5. Modify Table Properties (Alter)</vt:lpstr>
      <vt:lpstr>PowerPoint Presentation</vt:lpstr>
      <vt:lpstr>Cont…</vt:lpstr>
      <vt:lpstr>Alter : Rename column name</vt:lpstr>
      <vt:lpstr>Alter :  “Column Constraints”</vt:lpstr>
      <vt:lpstr>Cont…</vt:lpstr>
      <vt:lpstr>SQL Constraints</vt:lpstr>
      <vt:lpstr>About SQL Constraints</vt:lpstr>
      <vt:lpstr>Types of constraint in MySQL</vt:lpstr>
      <vt:lpstr>Cont…</vt:lpstr>
      <vt:lpstr>Cont…</vt:lpstr>
      <vt:lpstr>Example 1:</vt:lpstr>
      <vt:lpstr>Examples 2: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174</cp:revision>
  <dcterms:modified xsi:type="dcterms:W3CDTF">2026-06-19T08:44:22Z</dcterms:modified>
</cp:coreProperties>
</file>