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301" r:id="rId3"/>
    <p:sldId id="303" r:id="rId4"/>
    <p:sldId id="304" r:id="rId5"/>
  </p:sldIdLst>
  <p:sldSz cx="9144000" cy="6858000" type="screen4x3"/>
  <p:notesSz cx="6858000" cy="9144000"/>
  <p:embeddedFontLst>
    <p:embeddedFont>
      <p:font typeface="Roboto Condensed Light" panose="020B0604020202020204" charset="0"/>
      <p:regular r:id="rId7"/>
      <p:bold r:id="rId8"/>
      <p:italic r:id="rId9"/>
      <p:boldItalic r:id="rId10"/>
    </p:embeddedFont>
    <p:embeddedFont>
      <p:font typeface="Arvo" panose="020B0604020202020204" charset="0"/>
      <p:regular r:id="rId11"/>
      <p:bold r:id="rId12"/>
      <p:italic r:id="rId13"/>
      <p:boldItalic r:id="rId14"/>
    </p:embeddedFont>
    <p:embeddedFont>
      <p:font typeface="Roboto Condensed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CFE"/>
    <a:srgbClr val="C6E6FC"/>
    <a:srgbClr val="C5D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88790" autoAdjust="0"/>
  </p:normalViewPr>
  <p:slideViewPr>
    <p:cSldViewPr>
      <p:cViewPr varScale="1">
        <p:scale>
          <a:sx n="61" d="100"/>
          <a:sy n="61" d="100"/>
        </p:scale>
        <p:origin x="14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95297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8809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Notice that the </a:t>
            </a:r>
            <a:r>
              <a:rPr lang="en-IN" b="1" dirty="0" smtClean="0"/>
              <a:t>"</a:t>
            </a:r>
            <a:r>
              <a:rPr lang="en-IN" b="1" dirty="0" err="1" smtClean="0"/>
              <a:t>PersonID</a:t>
            </a:r>
            <a:r>
              <a:rPr lang="en-IN" b="1" dirty="0" smtClean="0"/>
              <a:t>" </a:t>
            </a:r>
            <a:r>
              <a:rPr lang="en-IN" dirty="0" smtClean="0"/>
              <a:t>column in the "</a:t>
            </a:r>
            <a:r>
              <a:rPr lang="en-IN" b="1" dirty="0" smtClean="0"/>
              <a:t>Orders</a:t>
            </a:r>
            <a:r>
              <a:rPr lang="en-IN" dirty="0" smtClean="0"/>
              <a:t>" table points to the "</a:t>
            </a:r>
            <a:r>
              <a:rPr lang="en-IN" b="1" dirty="0" err="1" smtClean="0"/>
              <a:t>PersonID</a:t>
            </a:r>
            <a:r>
              <a:rPr lang="en-IN" dirty="0" smtClean="0"/>
              <a:t>" column in the "</a:t>
            </a:r>
            <a:r>
              <a:rPr lang="en-IN" b="1" dirty="0" smtClean="0"/>
              <a:t>Persons</a:t>
            </a:r>
            <a:r>
              <a:rPr lang="en-IN" dirty="0" smtClean="0"/>
              <a:t>" table.</a:t>
            </a:r>
          </a:p>
          <a:p>
            <a:endParaRPr lang="en-IN" dirty="0" smtClean="0"/>
          </a:p>
          <a:p>
            <a:r>
              <a:rPr lang="en-IN" dirty="0" smtClean="0"/>
              <a:t>The "</a:t>
            </a:r>
            <a:r>
              <a:rPr lang="en-IN" dirty="0" err="1" smtClean="0"/>
              <a:t>PersonID</a:t>
            </a:r>
            <a:r>
              <a:rPr lang="en-IN" dirty="0" smtClean="0"/>
              <a:t>" column in the "Persons" table is the PRIMARY KEY.</a:t>
            </a:r>
          </a:p>
          <a:p>
            <a:endParaRPr lang="en-IN" dirty="0" smtClean="0"/>
          </a:p>
          <a:p>
            <a:r>
              <a:rPr lang="en-IN" dirty="0" smtClean="0"/>
              <a:t>The "</a:t>
            </a:r>
            <a:r>
              <a:rPr lang="en-IN" dirty="0" err="1" smtClean="0"/>
              <a:t>PersonID</a:t>
            </a:r>
            <a:r>
              <a:rPr lang="en-IN" dirty="0" smtClean="0"/>
              <a:t>" column in the "Orders" table is a FOREIGN KEY.</a:t>
            </a:r>
          </a:p>
          <a:p>
            <a:endParaRPr lang="en-IN" dirty="0" smtClean="0"/>
          </a:p>
          <a:p>
            <a:r>
              <a:rPr lang="en-IN" dirty="0" smtClean="0"/>
              <a:t>The FOREIGN KEY constraint prevents invalid data from being inserted into the foreign key column, because it has to be one of the values contained in the parent table.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867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877033"/>
            <a:ext cx="1299300" cy="5772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9451"/>
            <a:ext cx="8661398" cy="6867451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454351"/>
            <a:ext cx="8847502" cy="3949300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7" y="5704465"/>
            <a:ext cx="5480829" cy="577328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54"/>
            <a:ext cx="7072430" cy="1769753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769800"/>
            <a:ext cx="6132600" cy="4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 smtClean="0"/>
              <a:t>Foreign Key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>
                <a:solidFill>
                  <a:srgbClr val="FFFF00"/>
                </a:solidFill>
              </a:rPr>
              <a:t>What is foreign key?</a:t>
            </a:r>
            <a:endParaRPr lang="en-IN" sz="2400" dirty="0">
              <a:solidFill>
                <a:srgbClr val="FFFF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7502142" cy="3632400"/>
          </a:xfrm>
        </p:spPr>
        <p:txBody>
          <a:bodyPr anchor="ctr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dirty="0"/>
              <a:t>A FOREIGN KEY is a field (or collection of fields) in one table, that refers to the PRIMARY KEY in another table</a:t>
            </a:r>
            <a:r>
              <a:rPr lang="en-IN" dirty="0" smtClean="0"/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dirty="0"/>
              <a:t>The table with the foreign key is called the child table, and the table with the primary key is called the referenced or parent table.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pSp>
        <p:nvGrpSpPr>
          <p:cNvPr id="6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7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5245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>
                <a:solidFill>
                  <a:schemeClr val="bg1"/>
                </a:solidFill>
              </a:rPr>
              <a:t>Examples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988840"/>
            <a:ext cx="4248472" cy="1720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077072"/>
            <a:ext cx="4248472" cy="2149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673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/>
              <a:t>Query</a:t>
            </a:r>
            <a:endParaRPr lang="en-IN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32" y="1988841"/>
            <a:ext cx="6192688" cy="3816423"/>
          </a:xfrm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marL="101600" indent="0">
              <a:lnSpc>
                <a:spcPct val="150000"/>
              </a:lnSpc>
              <a:buNone/>
            </a:pPr>
            <a:r>
              <a:rPr lang="en-IN" b="1" dirty="0"/>
              <a:t>CREATE TABLE </a:t>
            </a:r>
            <a:r>
              <a:rPr lang="en-IN" dirty="0"/>
              <a:t>Orders (</a:t>
            </a:r>
          </a:p>
          <a:p>
            <a:pPr marL="101600" indent="0">
              <a:lnSpc>
                <a:spcPct val="150000"/>
              </a:lnSpc>
              <a:buNone/>
            </a:pPr>
            <a:r>
              <a:rPr lang="en-IN" dirty="0"/>
              <a:t>    </a:t>
            </a:r>
            <a:r>
              <a:rPr lang="en-IN" dirty="0" err="1"/>
              <a:t>OrderID</a:t>
            </a: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NOT NULL,</a:t>
            </a:r>
          </a:p>
          <a:p>
            <a:pPr marL="101600" indent="0">
              <a:lnSpc>
                <a:spcPct val="150000"/>
              </a:lnSpc>
              <a:buNone/>
            </a:pPr>
            <a:r>
              <a:rPr lang="en-IN" dirty="0"/>
              <a:t>    </a:t>
            </a:r>
            <a:r>
              <a:rPr lang="en-IN" dirty="0" err="1"/>
              <a:t>OrderNumber</a:t>
            </a: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NOT NULL,</a:t>
            </a:r>
          </a:p>
          <a:p>
            <a:pPr marL="101600" indent="0">
              <a:lnSpc>
                <a:spcPct val="150000"/>
              </a:lnSpc>
              <a:buNone/>
            </a:pPr>
            <a:r>
              <a:rPr lang="en-IN" dirty="0"/>
              <a:t>    </a:t>
            </a:r>
            <a:r>
              <a:rPr lang="en-IN" dirty="0" err="1"/>
              <a:t>PersonID</a:t>
            </a: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,</a:t>
            </a:r>
          </a:p>
          <a:p>
            <a:pPr marL="101600" indent="0">
              <a:lnSpc>
                <a:spcPct val="150000"/>
              </a:lnSpc>
              <a:buNone/>
            </a:pPr>
            <a:r>
              <a:rPr lang="en-IN" dirty="0"/>
              <a:t>    PRIMARY KEY (</a:t>
            </a:r>
            <a:r>
              <a:rPr lang="en-IN" dirty="0" err="1"/>
              <a:t>OrderID</a:t>
            </a:r>
            <a:r>
              <a:rPr lang="en-IN" dirty="0"/>
              <a:t>),</a:t>
            </a:r>
          </a:p>
          <a:p>
            <a:pPr marL="101600" indent="0">
              <a:lnSpc>
                <a:spcPct val="150000"/>
              </a:lnSpc>
              <a:buNone/>
            </a:pPr>
            <a:r>
              <a:rPr lang="en-IN" dirty="0"/>
              <a:t>    </a:t>
            </a:r>
            <a:r>
              <a:rPr lang="en-IN" b="1" dirty="0">
                <a:solidFill>
                  <a:srgbClr val="002060"/>
                </a:solidFill>
              </a:rPr>
              <a:t>FOREIGN KEY </a:t>
            </a:r>
            <a:r>
              <a:rPr lang="en-IN" dirty="0"/>
              <a:t>(</a:t>
            </a:r>
            <a:r>
              <a:rPr lang="en-IN" dirty="0" err="1"/>
              <a:t>PersonID</a:t>
            </a:r>
            <a:r>
              <a:rPr lang="en-IN" dirty="0"/>
              <a:t>) </a:t>
            </a:r>
            <a:r>
              <a:rPr lang="en-IN" b="1" dirty="0">
                <a:solidFill>
                  <a:srgbClr val="FF0000"/>
                </a:solidFill>
              </a:rPr>
              <a:t>REFERENCES </a:t>
            </a:r>
            <a:r>
              <a:rPr lang="en-IN" dirty="0">
                <a:solidFill>
                  <a:srgbClr val="002060"/>
                </a:solidFill>
              </a:rPr>
              <a:t>Persons(</a:t>
            </a:r>
            <a:r>
              <a:rPr lang="en-IN" dirty="0" err="1">
                <a:solidFill>
                  <a:srgbClr val="002060"/>
                </a:solidFill>
              </a:rPr>
              <a:t>PersonID</a:t>
            </a:r>
            <a:r>
              <a:rPr lang="en-IN" dirty="0">
                <a:solidFill>
                  <a:srgbClr val="002060"/>
                </a:solidFill>
              </a:rPr>
              <a:t>)</a:t>
            </a:r>
          </a:p>
          <a:p>
            <a:pPr marL="101600" indent="0">
              <a:lnSpc>
                <a:spcPct val="150000"/>
              </a:lnSpc>
              <a:buNone/>
            </a:pPr>
            <a:r>
              <a:rPr lang="en-IN" dirty="0"/>
              <a:t>);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9995390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191</Words>
  <Application>Microsoft Office PowerPoint</Application>
  <PresentationFormat>On-screen Show (4:3)</PresentationFormat>
  <Paragraphs>23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Roboto Condensed Light</vt:lpstr>
      <vt:lpstr>Arvo</vt:lpstr>
      <vt:lpstr>Roboto Condensed</vt:lpstr>
      <vt:lpstr>Salerio template</vt:lpstr>
      <vt:lpstr>Foreign Key</vt:lpstr>
      <vt:lpstr>What is foreign key?</vt:lpstr>
      <vt:lpstr>Examples</vt:lpstr>
      <vt:lpstr>Query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Daphy Meurial</dc:creator>
  <cp:lastModifiedBy>Microsoft account</cp:lastModifiedBy>
  <cp:revision>314</cp:revision>
  <dcterms:modified xsi:type="dcterms:W3CDTF">2026-06-19T08:45:46Z</dcterms:modified>
</cp:coreProperties>
</file>